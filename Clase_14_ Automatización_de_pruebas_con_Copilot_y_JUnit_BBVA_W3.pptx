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7581900" cx="13436600"/>
  <p:notesSz cx="13436600" cy="7581900"/>
  <p:embeddedFontLst>
    <p:embeddedFont>
      <p:font typeface="Montserrat"/>
      <p:regular r:id="rId41"/>
      <p:bold r:id="rId42"/>
      <p:italic r:id="rId43"/>
      <p:boldItalic r:id="rId44"/>
    </p:embeddedFont>
    <p:embeddedFont>
      <p:font typeface="Tahoma"/>
      <p:regular r:id="rId45"/>
      <p:bold r:id="rId46"/>
    </p:embeddedFont>
    <p:embeddedFont>
      <p:font typeface="Montserrat ExtraBold"/>
      <p:bold r:id="rId47"/>
      <p:boldItalic r:id="rId48"/>
    </p:embeddedFont>
    <p:embeddedFont>
      <p:font typeface="Roboto Mono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27F821-5034-43A5-A24F-95AAF647D3C3}">
  <a:tblStyle styleId="{5827F821-5034-43A5-A24F-95AAF647D3C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Montserrat-bold.fntdata"/><Relationship Id="rId41" Type="http://schemas.openxmlformats.org/officeDocument/2006/relationships/font" Target="fonts/Montserrat-regular.fntdata"/><Relationship Id="rId44" Type="http://schemas.openxmlformats.org/officeDocument/2006/relationships/font" Target="fonts/Montserrat-boldItalic.fntdata"/><Relationship Id="rId43" Type="http://schemas.openxmlformats.org/officeDocument/2006/relationships/font" Target="fonts/Montserrat-italic.fntdata"/><Relationship Id="rId46" Type="http://schemas.openxmlformats.org/officeDocument/2006/relationships/font" Target="fonts/Tahoma-bold.fntdata"/><Relationship Id="rId45" Type="http://schemas.openxmlformats.org/officeDocument/2006/relationships/font" Target="fonts/Tahom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ExtraBold-boldItalic.fntdata"/><Relationship Id="rId47" Type="http://schemas.openxmlformats.org/officeDocument/2006/relationships/font" Target="fonts/MontserratExtraBold-bold.fntdata"/><Relationship Id="rId49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ono-italic.fntdata"/><Relationship Id="rId50" Type="http://schemas.openxmlformats.org/officeDocument/2006/relationships/font" Target="fonts/RobotoMono-bold.fntdata"/><Relationship Id="rId52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343650" y="3601400"/>
            <a:ext cx="10749275" cy="34118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forms/d/e/1FAIpQLSd7CwDOR8DtLmoChkqb1qVQvX8v3UwX6duTgdpfIZvjTUWXyA/viewform?usp=publish-editor" TargetMode="Externa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e2b66b3cf1_0_11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e2b66b3cf1_0_11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ecd157034_1_0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ecd157034_1_0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ecd157034_1_47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ecd157034_1_47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e2b66b3cf1_0_90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e2b66b3cf1_0_90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e2b66b3cf1_0_128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e2b66b3cf1_0_128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e2b66b3cf1_0_157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e2b66b3cf1_0_157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92eacfd1f_0_0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92eacfd1f_0_0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27224b21f_0_9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627224b21f_0_9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27224b21f_0_21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627224b21f_0_21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27224b21f_0_0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627224b21f_0_0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27224b21f_0_44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627224b21f_0_44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92eacfd1f_0_6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692eacfd1f_0_6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27224b21f_0_51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627224b21f_0_51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92eacfd1f_0_12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692eacfd1f_0_12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27224b21f_0_64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627224b21f_0_64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e2b66b3cf1_0_154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e2b66b3cf1_0_154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56cd3fda4f_0_31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56cd3fda4f_0_31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56cd3fda4f_0_25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56cd3fda4f_0_25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25c674413_0_39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625c674413_0_39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625c674413_0_0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625c674413_0_0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6cd3fda4f_1_0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56cd3fda4f_1_0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25c674413_0_33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625c674413_0_33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56cd3fda4f_0_13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56cd3fda4f_0_13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6cd3fda4f_0_7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56cd3fda4f_0_7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56cd3fda4f_0_61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56cd3fda4f_0_61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e2b66b3cf1_0_260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e2b66b3cf1_0_260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e2b66b3cf1_0_269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e2b66b3cf1_0_269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e2b66b3cf1_0_278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e2b66b3cf1_0_278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Nota: </a:t>
            </a:r>
            <a:r>
              <a:rPr lang="en-US">
                <a:solidFill>
                  <a:schemeClr val="dk1"/>
                </a:solidFill>
              </a:rPr>
              <a:t>slide para incluir la ejercitación de la clase (práctica o teórica).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56cd3fda4f_0_76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56cd3fda4f_0_76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Nota: </a:t>
            </a:r>
            <a:r>
              <a:rPr lang="en-US">
                <a:solidFill>
                  <a:schemeClr val="dk1"/>
                </a:solidFill>
              </a:rPr>
              <a:t>slide para incluir la ejercitación de la clase (práctica o teórica).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625c674413_0_13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625c674413_0_13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Nota: </a:t>
            </a:r>
            <a:r>
              <a:rPr lang="en-US">
                <a:solidFill>
                  <a:schemeClr val="dk1"/>
                </a:solidFill>
              </a:rPr>
              <a:t>slide para incluir la ejercitación de la clase (práctica o teórica).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625c674413_0_20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625c674413_0_20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Nota: </a:t>
            </a:r>
            <a:r>
              <a:rPr lang="en-US">
                <a:solidFill>
                  <a:schemeClr val="dk1"/>
                </a:solidFill>
              </a:rPr>
              <a:t>slide para incluir la ejercitación de la clase (práctica o teórica).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e2b66b3cf1_0_289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e2b66b3cf1_0_289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h4d54d88256bcee2f_0_0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h4d54d88256bcee2f_0_0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👉Link de la encuesta: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https://docs.google.com/forms/d/e/1FAIpQLSd7CwDOR8DtLmoChkqb1qVQvX8v3UwX6duTgdpfIZvjTUWXyA/viewform?usp=publish-editor</a:t>
            </a:r>
            <a:r>
              <a:rPr lang="en-US">
                <a:solidFill>
                  <a:schemeClr val="dk1"/>
                </a:solidFill>
              </a:rPr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e01aa8c7c0_0_273:notes"/>
          <p:cNvSpPr/>
          <p:nvPr>
            <p:ph idx="2" type="sldImg"/>
          </p:nvPr>
        </p:nvSpPr>
        <p:spPr>
          <a:xfrm>
            <a:off x="765821" y="568642"/>
            <a:ext cx="119061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e01aa8c7c0_0_273:notes"/>
          <p:cNvSpPr txBox="1"/>
          <p:nvPr>
            <p:ph idx="1" type="body"/>
          </p:nvPr>
        </p:nvSpPr>
        <p:spPr>
          <a:xfrm>
            <a:off x="1343660" y="3601403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e2b66b3cf1_0_317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e2b66b3cf1_0_317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899426" y="678423"/>
            <a:ext cx="3637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900">
                <a:solidFill>
                  <a:srgbClr val="5EBEE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568444" y="7051167"/>
            <a:ext cx="42996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71830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674352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899426" y="678423"/>
            <a:ext cx="3637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900">
                <a:solidFill>
                  <a:srgbClr val="5EBEE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584112" y="1469383"/>
            <a:ext cx="12268500" cy="21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568444" y="7051167"/>
            <a:ext cx="42996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71830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674352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ctrTitle"/>
          </p:nvPr>
        </p:nvSpPr>
        <p:spPr>
          <a:xfrm>
            <a:off x="1007745" y="2350389"/>
            <a:ext cx="11421000" cy="15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2015490" y="4245864"/>
            <a:ext cx="9405600" cy="18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568444" y="7051167"/>
            <a:ext cx="42996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71830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9674352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4899426" y="678423"/>
            <a:ext cx="3637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900">
                <a:solidFill>
                  <a:srgbClr val="5EBEE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671830" y="1743837"/>
            <a:ext cx="5844900" cy="50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6919849" y="1743837"/>
            <a:ext cx="5844900" cy="50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568444" y="7051167"/>
            <a:ext cx="42996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71830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9674352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idx="11" type="ftr"/>
          </p:nvPr>
        </p:nvSpPr>
        <p:spPr>
          <a:xfrm>
            <a:off x="4568444" y="7051167"/>
            <a:ext cx="42996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71830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9674352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458026" y="656000"/>
            <a:ext cx="12520500" cy="8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458026" y="1698834"/>
            <a:ext cx="12520500" cy="50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12449806" y="6873927"/>
            <a:ext cx="806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12449806" y="6873927"/>
            <a:ext cx="806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">
  <p:cSld name="whit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899426" y="678423"/>
            <a:ext cx="3637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900" u="none" cap="none" strike="noStrike">
                <a:solidFill>
                  <a:srgbClr val="5EBEE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84112" y="1469383"/>
            <a:ext cx="12268500" cy="21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568444" y="7051167"/>
            <a:ext cx="42996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671830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9674352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hyperlink" Target="https://www.sonarsource.com/plans-and-pricing/sonarcloud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Relationship Id="rId4" Type="http://schemas.openxmlformats.org/officeDocument/2006/relationships/image" Target="../media/image2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hyperlink" Target="http://drive.google.com/file/d/1bcnbEltPh8v4RCtRYTzKLveBbO6888ly/view" TargetMode="External"/><Relationship Id="rId6" Type="http://schemas.openxmlformats.org/officeDocument/2006/relationships/image" Target="../media/image8.png"/><Relationship Id="rId7" Type="http://schemas.openxmlformats.org/officeDocument/2006/relationships/image" Target="../media/image19.gif"/><Relationship Id="rId8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/>
        </p:nvSpPr>
        <p:spPr>
          <a:xfrm>
            <a:off x="3315551" y="2536200"/>
            <a:ext cx="6805500" cy="20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Recibe una cálida:</a:t>
            </a:r>
            <a:endParaRPr sz="24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¡Bienvenida!</a:t>
            </a:r>
            <a:endParaRPr sz="65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Te estábamos esperando 😁</a:t>
            </a:r>
            <a:endParaRPr sz="24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51" name="Google Shape;51;p10"/>
          <p:cNvCxnSpPr/>
          <p:nvPr/>
        </p:nvCxnSpPr>
        <p:spPr>
          <a:xfrm>
            <a:off x="5417338" y="6476800"/>
            <a:ext cx="260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10"/>
          <p:cNvPicPr preferRelativeResize="0"/>
          <p:nvPr/>
        </p:nvPicPr>
        <p:blipFill rotWithShape="1">
          <a:blip r:embed="rId4">
            <a:alphaModFix/>
          </a:blip>
          <a:srcRect b="50150" l="0" r="35947" t="3056"/>
          <a:stretch/>
        </p:blipFill>
        <p:spPr>
          <a:xfrm>
            <a:off x="5669125" y="5692125"/>
            <a:ext cx="2098325" cy="5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/>
          <p:nvPr/>
        </p:nvSpPr>
        <p:spPr>
          <a:xfrm>
            <a:off x="914400" y="685075"/>
            <a:ext cx="194400" cy="194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 txBox="1"/>
          <p:nvPr/>
        </p:nvSpPr>
        <p:spPr>
          <a:xfrm>
            <a:off x="1122825" y="605275"/>
            <a:ext cx="158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Clase grabada</a:t>
            </a:r>
            <a:endParaRPr sz="11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/>
        </p:nvSpPr>
        <p:spPr>
          <a:xfrm>
            <a:off x="1521000" y="2528850"/>
            <a:ext cx="107241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CLASE 14.</a:t>
            </a:r>
            <a:endParaRPr sz="6000">
              <a:solidFill>
                <a:srgbClr val="FFFFFF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Automatización de Pruebas con Copilot y JUnit</a:t>
            </a:r>
            <a:endParaRPr sz="6000">
              <a:solidFill>
                <a:srgbClr val="FFFFFF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60" name="Google Shape;60;p11"/>
          <p:cNvCxnSpPr/>
          <p:nvPr/>
        </p:nvCxnSpPr>
        <p:spPr>
          <a:xfrm flipH="1" rot="10800000">
            <a:off x="1367500" y="2749950"/>
            <a:ext cx="1800" cy="25131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1"/>
          <p:cNvSpPr txBox="1"/>
          <p:nvPr/>
        </p:nvSpPr>
        <p:spPr>
          <a:xfrm>
            <a:off x="1367500" y="2097738"/>
            <a:ext cx="627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Java Nivel 2 | BBVA</a:t>
            </a:r>
            <a:endParaRPr sz="1600">
              <a:solidFill>
                <a:srgbClr val="FFFFFF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/>
        </p:nvSpPr>
        <p:spPr>
          <a:xfrm>
            <a:off x="861950" y="612700"/>
            <a:ext cx="4632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HOJA DE RUTA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861950" y="1259200"/>
            <a:ext cx="378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¿Cuáles </a:t>
            </a:r>
            <a:r>
              <a:rPr b="1" lang="en-US" sz="13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skills </a:t>
            </a:r>
            <a:r>
              <a:rPr lang="en-US" sz="13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conforman el programa?</a:t>
            </a:r>
            <a:endParaRPr sz="13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68" name="Google Shape;68;p12"/>
          <p:cNvCxnSpPr/>
          <p:nvPr/>
        </p:nvCxnSpPr>
        <p:spPr>
          <a:xfrm rot="10800000">
            <a:off x="762500" y="808525"/>
            <a:ext cx="0" cy="7605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2"/>
          <p:cNvSpPr/>
          <p:nvPr/>
        </p:nvSpPr>
        <p:spPr>
          <a:xfrm>
            <a:off x="4102241" y="3314883"/>
            <a:ext cx="2358600" cy="606300"/>
          </a:xfrm>
          <a:prstGeom prst="roundRect">
            <a:avLst>
              <a:gd fmla="val 16667" name="adj"/>
            </a:avLst>
          </a:prstGeom>
          <a:solidFill>
            <a:srgbClr val="0A4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APIs y Microservicios en Java</a:t>
            </a:r>
            <a:endParaRPr b="1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70" name="Google Shape;70;p12"/>
          <p:cNvGrpSpPr/>
          <p:nvPr/>
        </p:nvGrpSpPr>
        <p:grpSpPr>
          <a:xfrm>
            <a:off x="4102234" y="1706713"/>
            <a:ext cx="800400" cy="800400"/>
            <a:chOff x="3521700" y="2434800"/>
            <a:chExt cx="800400" cy="800400"/>
          </a:xfrm>
        </p:grpSpPr>
        <p:sp>
          <p:nvSpPr>
            <p:cNvPr id="71" name="Google Shape;71;p12"/>
            <p:cNvSpPr/>
            <p:nvPr/>
          </p:nvSpPr>
          <p:spPr>
            <a:xfrm>
              <a:off x="3521700" y="2434800"/>
              <a:ext cx="800400" cy="80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2" name="Google Shape;72;p12"/>
            <p:cNvSpPr txBox="1"/>
            <p:nvPr/>
          </p:nvSpPr>
          <p:spPr>
            <a:xfrm>
              <a:off x="3598500" y="2434800"/>
              <a:ext cx="6468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Muli"/>
                  <a:ea typeface="Muli"/>
                  <a:cs typeface="Muli"/>
                  <a:sym typeface="Muli"/>
                </a:rPr>
                <a:t>2.</a:t>
              </a:r>
              <a:endParaRPr sz="4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sp>
        <p:nvSpPr>
          <p:cNvPr id="73" name="Google Shape;73;p12"/>
          <p:cNvSpPr/>
          <p:nvPr/>
        </p:nvSpPr>
        <p:spPr>
          <a:xfrm>
            <a:off x="6975753" y="3314883"/>
            <a:ext cx="2358600" cy="606300"/>
          </a:xfrm>
          <a:prstGeom prst="roundRect">
            <a:avLst>
              <a:gd fmla="val 16667" name="adj"/>
            </a:avLst>
          </a:prstGeom>
          <a:solidFill>
            <a:srgbClr val="0A4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Manejo avanzado de bases de datos (NoSQL)</a:t>
            </a:r>
            <a:endParaRPr b="1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74" name="Google Shape;74;p12"/>
          <p:cNvGrpSpPr/>
          <p:nvPr/>
        </p:nvGrpSpPr>
        <p:grpSpPr>
          <a:xfrm>
            <a:off x="6975750" y="1644088"/>
            <a:ext cx="800400" cy="800400"/>
            <a:chOff x="3521700" y="2434800"/>
            <a:chExt cx="800400" cy="800400"/>
          </a:xfrm>
        </p:grpSpPr>
        <p:sp>
          <p:nvSpPr>
            <p:cNvPr id="75" name="Google Shape;75;p12"/>
            <p:cNvSpPr/>
            <p:nvPr/>
          </p:nvSpPr>
          <p:spPr>
            <a:xfrm>
              <a:off x="3521700" y="2434800"/>
              <a:ext cx="800400" cy="80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2"/>
            <p:cNvSpPr txBox="1"/>
            <p:nvPr/>
          </p:nvSpPr>
          <p:spPr>
            <a:xfrm>
              <a:off x="3598500" y="2434800"/>
              <a:ext cx="6468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Muli"/>
                  <a:ea typeface="Muli"/>
                  <a:cs typeface="Muli"/>
                  <a:sym typeface="Muli"/>
                </a:rPr>
                <a:t>3.</a:t>
              </a:r>
              <a:endParaRPr sz="4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sp>
        <p:nvSpPr>
          <p:cNvPr id="77" name="Google Shape;77;p12"/>
          <p:cNvSpPr/>
          <p:nvPr/>
        </p:nvSpPr>
        <p:spPr>
          <a:xfrm>
            <a:off x="1228750" y="3314883"/>
            <a:ext cx="2358600" cy="606300"/>
          </a:xfrm>
          <a:prstGeom prst="roundRect">
            <a:avLst>
              <a:gd fmla="val 16667" name="adj"/>
            </a:avLst>
          </a:prstGeom>
          <a:solidFill>
            <a:srgbClr val="0A468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Entorno avanzado de desarrollo Java</a:t>
            </a:r>
            <a:endParaRPr b="1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78" name="Google Shape;78;p12"/>
          <p:cNvGrpSpPr/>
          <p:nvPr/>
        </p:nvGrpSpPr>
        <p:grpSpPr>
          <a:xfrm>
            <a:off x="1228750" y="1738875"/>
            <a:ext cx="800400" cy="800400"/>
            <a:chOff x="3521700" y="2434800"/>
            <a:chExt cx="800400" cy="800400"/>
          </a:xfrm>
        </p:grpSpPr>
        <p:sp>
          <p:nvSpPr>
            <p:cNvPr id="79" name="Google Shape;79;p12"/>
            <p:cNvSpPr/>
            <p:nvPr/>
          </p:nvSpPr>
          <p:spPr>
            <a:xfrm>
              <a:off x="3521700" y="2434800"/>
              <a:ext cx="800400" cy="80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2"/>
            <p:cNvSpPr txBox="1"/>
            <p:nvPr/>
          </p:nvSpPr>
          <p:spPr>
            <a:xfrm>
              <a:off x="3598500" y="2434800"/>
              <a:ext cx="6468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Muli"/>
                  <a:ea typeface="Muli"/>
                  <a:cs typeface="Muli"/>
                  <a:sym typeface="Muli"/>
                </a:rPr>
                <a:t>1.</a:t>
              </a:r>
              <a:endParaRPr sz="4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cxnSp>
        <p:nvCxnSpPr>
          <p:cNvPr id="81" name="Google Shape;81;p12"/>
          <p:cNvCxnSpPr>
            <a:stCxn id="80" idx="2"/>
          </p:cNvCxnSpPr>
          <p:nvPr/>
        </p:nvCxnSpPr>
        <p:spPr>
          <a:xfrm>
            <a:off x="1628950" y="2539275"/>
            <a:ext cx="0" cy="841500"/>
          </a:xfrm>
          <a:prstGeom prst="straightConnector1">
            <a:avLst/>
          </a:prstGeom>
          <a:noFill/>
          <a:ln cap="flat" cmpd="sng" w="9525">
            <a:solidFill>
              <a:srgbClr val="0A46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2"/>
          <p:cNvCxnSpPr>
            <a:stCxn id="72" idx="2"/>
          </p:cNvCxnSpPr>
          <p:nvPr/>
        </p:nvCxnSpPr>
        <p:spPr>
          <a:xfrm>
            <a:off x="4502434" y="2507113"/>
            <a:ext cx="0" cy="866400"/>
          </a:xfrm>
          <a:prstGeom prst="straightConnector1">
            <a:avLst/>
          </a:prstGeom>
          <a:noFill/>
          <a:ln cap="flat" cmpd="sng" w="9525">
            <a:solidFill>
              <a:srgbClr val="0A46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2"/>
          <p:cNvCxnSpPr>
            <a:stCxn id="77" idx="3"/>
            <a:endCxn id="71" idx="2"/>
          </p:cNvCxnSpPr>
          <p:nvPr/>
        </p:nvCxnSpPr>
        <p:spPr>
          <a:xfrm flipH="1" rot="10800000">
            <a:off x="3587350" y="2106933"/>
            <a:ext cx="514800" cy="15111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4" name="Google Shape;84;p12"/>
          <p:cNvCxnSpPr>
            <a:stCxn id="69" idx="3"/>
            <a:endCxn id="75" idx="2"/>
          </p:cNvCxnSpPr>
          <p:nvPr/>
        </p:nvCxnSpPr>
        <p:spPr>
          <a:xfrm flipH="1" rot="10800000">
            <a:off x="6460841" y="2044233"/>
            <a:ext cx="514800" cy="15738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5" name="Google Shape;85;p12"/>
          <p:cNvCxnSpPr>
            <a:stCxn id="76" idx="2"/>
          </p:cNvCxnSpPr>
          <p:nvPr/>
        </p:nvCxnSpPr>
        <p:spPr>
          <a:xfrm>
            <a:off x="7375950" y="2444488"/>
            <a:ext cx="0" cy="876600"/>
          </a:xfrm>
          <a:prstGeom prst="straightConnector1">
            <a:avLst/>
          </a:prstGeom>
          <a:noFill/>
          <a:ln cap="flat" cmpd="sng" w="9525">
            <a:solidFill>
              <a:srgbClr val="0A46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2"/>
          <p:cNvSpPr txBox="1"/>
          <p:nvPr/>
        </p:nvSpPr>
        <p:spPr>
          <a:xfrm>
            <a:off x="1628950" y="2726975"/>
            <a:ext cx="102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uli"/>
                <a:ea typeface="Muli"/>
                <a:cs typeface="Muli"/>
                <a:sym typeface="Muli"/>
              </a:rPr>
              <a:t>Start!🏁</a:t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87" name="Google Shape;87;p12"/>
          <p:cNvSpPr txBox="1"/>
          <p:nvPr/>
        </p:nvSpPr>
        <p:spPr>
          <a:xfrm>
            <a:off x="4502425" y="2710900"/>
            <a:ext cx="142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uli"/>
                <a:ea typeface="Muli"/>
                <a:cs typeface="Muli"/>
                <a:sym typeface="Muli"/>
              </a:rPr>
              <a:t>Level Up!🚀</a:t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88" name="Google Shape;88;p12"/>
          <p:cNvSpPr txBox="1"/>
          <p:nvPr/>
        </p:nvSpPr>
        <p:spPr>
          <a:xfrm>
            <a:off x="7375937" y="2759913"/>
            <a:ext cx="142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uli"/>
                <a:ea typeface="Muli"/>
                <a:cs typeface="Muli"/>
                <a:sym typeface="Muli"/>
              </a:rPr>
              <a:t>Level Up!🚀</a:t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9849250" y="3314900"/>
            <a:ext cx="2496300" cy="606300"/>
          </a:xfrm>
          <a:prstGeom prst="roundRect">
            <a:avLst>
              <a:gd fmla="val 16667" name="adj"/>
            </a:avLst>
          </a:prstGeom>
          <a:solidFill>
            <a:srgbClr val="0A4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Programación concurrente y rendimiento</a:t>
            </a:r>
            <a:endParaRPr b="1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90" name="Google Shape;90;p12"/>
          <p:cNvGrpSpPr/>
          <p:nvPr/>
        </p:nvGrpSpPr>
        <p:grpSpPr>
          <a:xfrm>
            <a:off x="9849250" y="1644100"/>
            <a:ext cx="800400" cy="800400"/>
            <a:chOff x="3521700" y="2434800"/>
            <a:chExt cx="800400" cy="800400"/>
          </a:xfrm>
        </p:grpSpPr>
        <p:sp>
          <p:nvSpPr>
            <p:cNvPr id="91" name="Google Shape;91;p12"/>
            <p:cNvSpPr/>
            <p:nvPr/>
          </p:nvSpPr>
          <p:spPr>
            <a:xfrm>
              <a:off x="3521700" y="2434800"/>
              <a:ext cx="800400" cy="80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2"/>
            <p:cNvSpPr txBox="1"/>
            <p:nvPr/>
          </p:nvSpPr>
          <p:spPr>
            <a:xfrm>
              <a:off x="3598500" y="2434800"/>
              <a:ext cx="6468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Muli"/>
                  <a:ea typeface="Muli"/>
                  <a:cs typeface="Muli"/>
                  <a:sym typeface="Muli"/>
                </a:rPr>
                <a:t>4.</a:t>
              </a:r>
              <a:endParaRPr sz="4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cxnSp>
        <p:nvCxnSpPr>
          <p:cNvPr id="93" name="Google Shape;93;p12"/>
          <p:cNvCxnSpPr>
            <a:stCxn id="73" idx="3"/>
            <a:endCxn id="91" idx="2"/>
          </p:cNvCxnSpPr>
          <p:nvPr/>
        </p:nvCxnSpPr>
        <p:spPr>
          <a:xfrm flipH="1" rot="10800000">
            <a:off x="9334353" y="2044233"/>
            <a:ext cx="514800" cy="1573800"/>
          </a:xfrm>
          <a:prstGeom prst="bentConnector3">
            <a:avLst>
              <a:gd fmla="val 50009" name="adj1"/>
            </a:avLst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4" name="Google Shape;94;p12"/>
          <p:cNvCxnSpPr>
            <a:stCxn id="92" idx="2"/>
          </p:cNvCxnSpPr>
          <p:nvPr/>
        </p:nvCxnSpPr>
        <p:spPr>
          <a:xfrm>
            <a:off x="10249450" y="2444500"/>
            <a:ext cx="0" cy="876600"/>
          </a:xfrm>
          <a:prstGeom prst="straightConnector1">
            <a:avLst/>
          </a:prstGeom>
          <a:noFill/>
          <a:ln cap="flat" cmpd="sng" w="9525">
            <a:solidFill>
              <a:srgbClr val="0A46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2"/>
          <p:cNvSpPr txBox="1"/>
          <p:nvPr/>
        </p:nvSpPr>
        <p:spPr>
          <a:xfrm>
            <a:off x="10249425" y="2759925"/>
            <a:ext cx="142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uli"/>
                <a:ea typeface="Muli"/>
                <a:cs typeface="Muli"/>
                <a:sym typeface="Muli"/>
              </a:rPr>
              <a:t>Level Up!🚀</a:t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96" name="Google Shape;96;p12"/>
          <p:cNvSpPr/>
          <p:nvPr/>
        </p:nvSpPr>
        <p:spPr>
          <a:xfrm>
            <a:off x="8982150" y="5968575"/>
            <a:ext cx="2771400" cy="606300"/>
          </a:xfrm>
          <a:prstGeom prst="roundRect">
            <a:avLst>
              <a:gd fmla="val 16667" name="adj"/>
            </a:avLst>
          </a:prstGeom>
          <a:solidFill>
            <a:srgbClr val="0A4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Virtualización y despliegue en entornos empresariales</a:t>
            </a:r>
            <a:endParaRPr b="1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97" name="Google Shape;97;p12"/>
          <p:cNvGrpSpPr/>
          <p:nvPr/>
        </p:nvGrpSpPr>
        <p:grpSpPr>
          <a:xfrm>
            <a:off x="8982150" y="4297775"/>
            <a:ext cx="800400" cy="800400"/>
            <a:chOff x="3521700" y="2434800"/>
            <a:chExt cx="800400" cy="800400"/>
          </a:xfrm>
        </p:grpSpPr>
        <p:sp>
          <p:nvSpPr>
            <p:cNvPr id="98" name="Google Shape;98;p12"/>
            <p:cNvSpPr/>
            <p:nvPr/>
          </p:nvSpPr>
          <p:spPr>
            <a:xfrm>
              <a:off x="3521700" y="2434800"/>
              <a:ext cx="800400" cy="80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2"/>
            <p:cNvSpPr txBox="1"/>
            <p:nvPr/>
          </p:nvSpPr>
          <p:spPr>
            <a:xfrm>
              <a:off x="3598500" y="2434800"/>
              <a:ext cx="6468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Muli"/>
                  <a:ea typeface="Muli"/>
                  <a:cs typeface="Muli"/>
                  <a:sym typeface="Muli"/>
                </a:rPr>
                <a:t>5.</a:t>
              </a:r>
              <a:endParaRPr sz="4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cxnSp>
        <p:nvCxnSpPr>
          <p:cNvPr id="100" name="Google Shape;100;p12"/>
          <p:cNvCxnSpPr>
            <a:stCxn id="99" idx="2"/>
          </p:cNvCxnSpPr>
          <p:nvPr/>
        </p:nvCxnSpPr>
        <p:spPr>
          <a:xfrm>
            <a:off x="9382350" y="5098175"/>
            <a:ext cx="0" cy="876600"/>
          </a:xfrm>
          <a:prstGeom prst="straightConnector1">
            <a:avLst/>
          </a:prstGeom>
          <a:noFill/>
          <a:ln cap="flat" cmpd="sng" w="9525">
            <a:solidFill>
              <a:srgbClr val="0A46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2"/>
          <p:cNvSpPr txBox="1"/>
          <p:nvPr/>
        </p:nvSpPr>
        <p:spPr>
          <a:xfrm>
            <a:off x="9382200" y="5350425"/>
            <a:ext cx="142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uli"/>
                <a:ea typeface="Muli"/>
                <a:cs typeface="Muli"/>
                <a:sym typeface="Muli"/>
              </a:rPr>
              <a:t>Level Up!🚀</a:t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02" name="Google Shape;102;p12"/>
          <p:cNvCxnSpPr>
            <a:stCxn id="89" idx="2"/>
            <a:endCxn id="98" idx="6"/>
          </p:cNvCxnSpPr>
          <p:nvPr/>
        </p:nvCxnSpPr>
        <p:spPr>
          <a:xfrm rot="5400000">
            <a:off x="10051600" y="3652100"/>
            <a:ext cx="776700" cy="1314900"/>
          </a:xfrm>
          <a:prstGeom prst="bentConnector2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3" name="Google Shape;103;p12"/>
          <p:cNvSpPr/>
          <p:nvPr/>
        </p:nvSpPr>
        <p:spPr>
          <a:xfrm>
            <a:off x="5410203" y="5968570"/>
            <a:ext cx="2358600" cy="606300"/>
          </a:xfrm>
          <a:prstGeom prst="roundRect">
            <a:avLst>
              <a:gd fmla="val 16667" name="adj"/>
            </a:avLst>
          </a:prstGeom>
          <a:solidFill>
            <a:srgbClr val="4A72B2"/>
          </a:solidFill>
          <a:ln cap="flat" cmpd="sng" w="19050">
            <a:solidFill>
              <a:srgbClr val="0A468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Pruebas avanzadas y calidad de código</a:t>
            </a:r>
            <a:endParaRPr b="1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104" name="Google Shape;104;p12"/>
          <p:cNvGrpSpPr/>
          <p:nvPr/>
        </p:nvGrpSpPr>
        <p:grpSpPr>
          <a:xfrm>
            <a:off x="5410200" y="4297775"/>
            <a:ext cx="800400" cy="800400"/>
            <a:chOff x="3521700" y="2434800"/>
            <a:chExt cx="800400" cy="800400"/>
          </a:xfrm>
        </p:grpSpPr>
        <p:sp>
          <p:nvSpPr>
            <p:cNvPr id="105" name="Google Shape;105;p12"/>
            <p:cNvSpPr/>
            <p:nvPr/>
          </p:nvSpPr>
          <p:spPr>
            <a:xfrm>
              <a:off x="3521700" y="2434800"/>
              <a:ext cx="800400" cy="80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2"/>
            <p:cNvSpPr txBox="1"/>
            <p:nvPr/>
          </p:nvSpPr>
          <p:spPr>
            <a:xfrm>
              <a:off x="3598500" y="2434800"/>
              <a:ext cx="6468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Muli"/>
                  <a:ea typeface="Muli"/>
                  <a:cs typeface="Muli"/>
                  <a:sym typeface="Muli"/>
                </a:rPr>
                <a:t>6.</a:t>
              </a:r>
              <a:endParaRPr sz="4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cxnSp>
        <p:nvCxnSpPr>
          <p:cNvPr id="107" name="Google Shape;107;p12"/>
          <p:cNvCxnSpPr>
            <a:stCxn id="106" idx="2"/>
          </p:cNvCxnSpPr>
          <p:nvPr/>
        </p:nvCxnSpPr>
        <p:spPr>
          <a:xfrm>
            <a:off x="5810400" y="5098175"/>
            <a:ext cx="0" cy="876600"/>
          </a:xfrm>
          <a:prstGeom prst="straightConnector1">
            <a:avLst/>
          </a:prstGeom>
          <a:noFill/>
          <a:ln cap="flat" cmpd="sng" w="9525">
            <a:solidFill>
              <a:srgbClr val="0A46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12"/>
          <p:cNvSpPr txBox="1"/>
          <p:nvPr/>
        </p:nvSpPr>
        <p:spPr>
          <a:xfrm>
            <a:off x="5802725" y="5284725"/>
            <a:ext cx="142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uli"/>
                <a:ea typeface="Muli"/>
                <a:cs typeface="Muli"/>
                <a:sym typeface="Muli"/>
              </a:rPr>
              <a:t>Level Up!🚀</a:t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09" name="Google Shape;109;p12"/>
          <p:cNvCxnSpPr>
            <a:stCxn id="96" idx="1"/>
            <a:endCxn id="105" idx="6"/>
          </p:cNvCxnSpPr>
          <p:nvPr/>
        </p:nvCxnSpPr>
        <p:spPr>
          <a:xfrm rot="10800000">
            <a:off x="6210450" y="4697925"/>
            <a:ext cx="2771700" cy="1573800"/>
          </a:xfrm>
          <a:prstGeom prst="bentConnector3">
            <a:avLst>
              <a:gd fmla="val 26038" name="adj1"/>
            </a:avLst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0" name="Google Shape;110;p12"/>
          <p:cNvSpPr/>
          <p:nvPr/>
        </p:nvSpPr>
        <p:spPr>
          <a:xfrm>
            <a:off x="1838253" y="5982620"/>
            <a:ext cx="2358600" cy="606300"/>
          </a:xfrm>
          <a:prstGeom prst="roundRect">
            <a:avLst>
              <a:gd fmla="val 16667" name="adj"/>
            </a:avLst>
          </a:prstGeom>
          <a:solidFill>
            <a:srgbClr val="0A4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Seguridad en aplicaciones Java</a:t>
            </a:r>
            <a:endParaRPr b="1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111" name="Google Shape;111;p12"/>
          <p:cNvGrpSpPr/>
          <p:nvPr/>
        </p:nvGrpSpPr>
        <p:grpSpPr>
          <a:xfrm>
            <a:off x="1838250" y="4311825"/>
            <a:ext cx="800400" cy="800400"/>
            <a:chOff x="3521700" y="2434800"/>
            <a:chExt cx="800400" cy="800400"/>
          </a:xfrm>
        </p:grpSpPr>
        <p:sp>
          <p:nvSpPr>
            <p:cNvPr id="112" name="Google Shape;112;p12"/>
            <p:cNvSpPr/>
            <p:nvPr/>
          </p:nvSpPr>
          <p:spPr>
            <a:xfrm>
              <a:off x="3521700" y="2434800"/>
              <a:ext cx="800400" cy="80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2"/>
            <p:cNvSpPr txBox="1"/>
            <p:nvPr/>
          </p:nvSpPr>
          <p:spPr>
            <a:xfrm>
              <a:off x="3598500" y="2434800"/>
              <a:ext cx="6468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Muli"/>
                  <a:ea typeface="Muli"/>
                  <a:cs typeface="Muli"/>
                  <a:sym typeface="Muli"/>
                </a:rPr>
                <a:t>7.</a:t>
              </a:r>
              <a:endParaRPr sz="4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cxnSp>
        <p:nvCxnSpPr>
          <p:cNvPr id="114" name="Google Shape;114;p12"/>
          <p:cNvCxnSpPr>
            <a:stCxn id="113" idx="2"/>
          </p:cNvCxnSpPr>
          <p:nvPr/>
        </p:nvCxnSpPr>
        <p:spPr>
          <a:xfrm>
            <a:off x="2238450" y="5112225"/>
            <a:ext cx="0" cy="876600"/>
          </a:xfrm>
          <a:prstGeom prst="straightConnector1">
            <a:avLst/>
          </a:prstGeom>
          <a:noFill/>
          <a:ln cap="flat" cmpd="sng" w="9525">
            <a:solidFill>
              <a:srgbClr val="0A46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2"/>
          <p:cNvCxnSpPr>
            <a:endCxn id="112" idx="6"/>
          </p:cNvCxnSpPr>
          <p:nvPr/>
        </p:nvCxnSpPr>
        <p:spPr>
          <a:xfrm rot="10800000">
            <a:off x="2638650" y="4712025"/>
            <a:ext cx="2771700" cy="1573800"/>
          </a:xfrm>
          <a:prstGeom prst="bentConnector3">
            <a:avLst>
              <a:gd fmla="val 19681" name="adj1"/>
            </a:avLst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6" name="Google Shape;116;p12"/>
          <p:cNvSpPr txBox="1"/>
          <p:nvPr/>
        </p:nvSpPr>
        <p:spPr>
          <a:xfrm>
            <a:off x="2257139" y="5284725"/>
            <a:ext cx="133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uli"/>
                <a:ea typeface="Muli"/>
                <a:cs typeface="Muli"/>
                <a:sym typeface="Muli"/>
              </a:rPr>
              <a:t>Landing!🥇</a:t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/>
          <p:nvPr/>
        </p:nvSpPr>
        <p:spPr>
          <a:xfrm>
            <a:off x="861950" y="612700"/>
            <a:ext cx="913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OBJETIVOS DE APRENDIZAJE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861950" y="1259200"/>
            <a:ext cx="378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¿Qué vas a aprender hoy?</a:t>
            </a:r>
            <a:endParaRPr sz="13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23" name="Google Shape;123;p13"/>
          <p:cNvCxnSpPr/>
          <p:nvPr/>
        </p:nvCxnSpPr>
        <p:spPr>
          <a:xfrm rot="10800000">
            <a:off x="762500" y="808525"/>
            <a:ext cx="0" cy="7605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3"/>
          <p:cNvSpPr txBox="1"/>
          <p:nvPr/>
        </p:nvSpPr>
        <p:spPr>
          <a:xfrm>
            <a:off x="2048850" y="2238563"/>
            <a:ext cx="999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Comprender cómo 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GitHub Copilot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puede asistir en la creación de pruebas unitarias.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1388750" y="2227750"/>
            <a:ext cx="332100" cy="5142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2048850" y="2965863"/>
            <a:ext cx="894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Aplicar 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buenas prácticas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en tests automatizados generados con Copilot.</a:t>
            </a:r>
            <a:endParaRPr sz="2000"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1388750" y="2955058"/>
            <a:ext cx="332100" cy="5142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2048850" y="3668175"/>
            <a:ext cx="894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Utilizar 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JUnit 5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para validar comportamientos esperados de métodos Java</a:t>
            </a:r>
            <a:r>
              <a:rPr lang="en-US" sz="11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.</a:t>
            </a:r>
            <a:endParaRPr sz="2000"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1388750" y="3682366"/>
            <a:ext cx="332100" cy="5142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1388750" y="4409673"/>
            <a:ext cx="332100" cy="5142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3"/>
          <p:cNvSpPr/>
          <p:nvPr/>
        </p:nvSpPr>
        <p:spPr>
          <a:xfrm>
            <a:off x="1388750" y="5136981"/>
            <a:ext cx="332100" cy="5142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2048850" y="4437950"/>
            <a:ext cx="91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Acelerar la 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cobertura de pruebas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en clases de servicio y lógica de negocio.</a:t>
            </a:r>
            <a:endParaRPr sz="2000"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2048850" y="5207738"/>
            <a:ext cx="735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Muli"/>
                <a:ea typeface="Muli"/>
                <a:cs typeface="Muli"/>
                <a:sym typeface="Muli"/>
              </a:rPr>
              <a:t>Integrar pruebas unitarias en flujos de desarrollo continuo.</a:t>
            </a:r>
            <a:endParaRPr sz="2000"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/>
        </p:nvSpPr>
        <p:spPr>
          <a:xfrm>
            <a:off x="861950" y="612700"/>
            <a:ext cx="913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REPASO CLASE ANTERIOR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861950" y="1259200"/>
            <a:ext cx="7658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Clase N°13: Pruebas de Integración con Spring Boot &amp; Análisis Estático y Refactorización</a:t>
            </a:r>
            <a:endParaRPr sz="13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40" name="Google Shape;140;p14"/>
          <p:cNvCxnSpPr/>
          <p:nvPr/>
        </p:nvCxnSpPr>
        <p:spPr>
          <a:xfrm rot="10800000">
            <a:off x="762500" y="808525"/>
            <a:ext cx="0" cy="7605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14"/>
          <p:cNvSpPr txBox="1"/>
          <p:nvPr/>
        </p:nvSpPr>
        <p:spPr>
          <a:xfrm>
            <a:off x="1383250" y="1970875"/>
            <a:ext cx="106701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En la clase anterior trabajamos 📚: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Spring Boot permite realizar pruebas de integración realistas con @SpringBootTest.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Testcontainers levanta bases reales (como MongoDB) para validar repositorios, servicios y controladores en condiciones similares a producción.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@DataMongoTest es útil para pruebas rápidas y aisladas de la capa de persistencia.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SonarQube detecta bugs, duplicaciones, code smells y niveles bajos de cobertura, todo sin ejecutar la app.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Aplicar refactorización reduce complejidad y mejora el mantenimiento a largo plazo.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Copilot + JUnit aceleran la creación de tests unitarios, fomentando la cultura de testing continuo.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Integrar pruebas, análisis y mejora constante es clave para lograr software de calidad profesional.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1357500" y="2546400"/>
            <a:ext cx="10555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Automatización de Pruebas con Copilot y JUnit</a:t>
            </a:r>
            <a:endParaRPr b="1" sz="60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762500" y="3305238"/>
            <a:ext cx="332100" cy="5142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/>
        </p:nvSpPr>
        <p:spPr>
          <a:xfrm>
            <a:off x="861950" y="2100150"/>
            <a:ext cx="6633000" cy="28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Plugin de Maven para JaCoCo (Java Code Coverage).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Char char="➔"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Herramienta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de cobertura de código.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Char char="➔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Mide qué partes del código se ejecutan durante los tests (líneas, ramas, métodos).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Char char="➔"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Genera reportes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en HTML, XML, etc.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Char char="➔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Se </a:t>
            </a:r>
            <a:r>
              <a:rPr lang="en-US" sz="2000" u="sng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ejecuta como plugin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de Maven, Gradle, etc.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861950" y="612700"/>
            <a:ext cx="10546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Cobertura de código con JaCoCo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54" name="Google Shape;154;p16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16"/>
          <p:cNvSpPr txBox="1"/>
          <p:nvPr/>
        </p:nvSpPr>
        <p:spPr>
          <a:xfrm>
            <a:off x="7406250" y="1600100"/>
            <a:ext cx="6633000" cy="56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&lt;plugin&gt;</a:t>
            </a:r>
            <a:endParaRPr sz="1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 &lt;groupId&gt;</a:t>
            </a:r>
            <a:r>
              <a:rPr b="1" lang="en-US" sz="17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org.jacoco</a:t>
            </a: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&lt;/groupId&gt;</a:t>
            </a:r>
            <a:endParaRPr sz="1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 &lt;artifactId&gt;jacoco-maven-plugin&lt;/artifactId&gt;</a:t>
            </a:r>
            <a:endParaRPr sz="1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 &lt;version&gt;0.8.13&lt;/version&gt;</a:t>
            </a:r>
            <a:endParaRPr sz="1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 &lt;executions&gt;</a:t>
            </a:r>
            <a:endParaRPr sz="1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   &lt;execution&gt;</a:t>
            </a:r>
            <a:endParaRPr sz="1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     &lt;goals&gt;</a:t>
            </a:r>
            <a:endParaRPr sz="1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       &lt;goal&gt;prepare-agent&lt;/goal&gt;</a:t>
            </a:r>
            <a:endParaRPr sz="1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     &lt;/goals&gt;</a:t>
            </a:r>
            <a:endParaRPr sz="1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   &lt;/execution&gt;</a:t>
            </a:r>
            <a:endParaRPr sz="1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   &lt;execution&gt;</a:t>
            </a:r>
            <a:endParaRPr sz="1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     &lt;id&gt;report&lt;/id&gt;</a:t>
            </a:r>
            <a:endParaRPr sz="1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     &lt;phase&gt;</a:t>
            </a:r>
            <a:r>
              <a:rPr b="1" lang="en-US" sz="17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verify</a:t>
            </a: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&lt;/phase&gt;</a:t>
            </a:r>
            <a:endParaRPr sz="1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     &lt;goals&gt;</a:t>
            </a:r>
            <a:endParaRPr sz="1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       &lt;goal&gt;</a:t>
            </a:r>
            <a:r>
              <a:rPr b="1" i="1" lang="en-US" sz="17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report</a:t>
            </a: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&lt;/goal&gt;</a:t>
            </a:r>
            <a:endParaRPr sz="1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     &lt;/goals&gt;</a:t>
            </a:r>
            <a:endParaRPr sz="1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   &lt;/execution&gt;</a:t>
            </a:r>
            <a:endParaRPr sz="1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 &lt;/executions&gt;</a:t>
            </a:r>
            <a:endParaRPr sz="1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&lt;/plugin&gt;</a:t>
            </a:r>
            <a:endParaRPr sz="1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/>
        </p:nvSpPr>
        <p:spPr>
          <a:xfrm>
            <a:off x="861950" y="2100150"/>
            <a:ext cx="6633000" cy="45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Cómo  acceder al reporte: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Char char="➔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Ejecutar en terminal: </a:t>
            </a:r>
            <a:endParaRPr b="1" sz="20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mvn clean verify jacoco</a:t>
            </a:r>
            <a:r>
              <a:rPr lang="en-US" sz="2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report</a:t>
            </a:r>
            <a:endParaRPr b="1" sz="20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Char char="➔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En carpeta target:  veremos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Char char="◆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jacoco.exec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Char char="◆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carpeta site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Char char="➔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Click derecho en carpeta site y </a:t>
            </a:r>
            <a:b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</a:b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abrir en Explorer y abrir el archivo 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index . html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861950" y="612700"/>
            <a:ext cx="10546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Cobertura de código con JaCoCo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62" name="Google Shape;162;p17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3" name="Google Shape;16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8325" y="1413100"/>
            <a:ext cx="5421625" cy="5192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17"/>
          <p:cNvCxnSpPr/>
          <p:nvPr/>
        </p:nvCxnSpPr>
        <p:spPr>
          <a:xfrm rot="10800000">
            <a:off x="8276975" y="4124150"/>
            <a:ext cx="12750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17"/>
          <p:cNvCxnSpPr/>
          <p:nvPr/>
        </p:nvCxnSpPr>
        <p:spPr>
          <a:xfrm rot="10800000">
            <a:off x="9007350" y="6282525"/>
            <a:ext cx="12750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/>
        </p:nvSpPr>
        <p:spPr>
          <a:xfrm>
            <a:off x="762500" y="1379175"/>
            <a:ext cx="12791400" cy="41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🔍 Elementos del reporte JaCoCo</a:t>
            </a:r>
            <a:endParaRPr b="1" sz="19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uli"/>
              <a:buChar char="➔"/>
            </a:pPr>
            <a:r>
              <a:rPr lang="en-US" sz="19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Missed Instructions: 	Instrucciones que no fueron ejecutadas en tests. Menos es mejor.</a:t>
            </a:r>
            <a:endParaRPr sz="19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uli"/>
              <a:buChar char="➔"/>
            </a:pPr>
            <a:r>
              <a:rPr lang="en-US" sz="19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Cov. (Instructions): 	Porcentaje de instrucciones cubiertas. Mide cobertura general.</a:t>
            </a:r>
            <a:endParaRPr sz="19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uli"/>
              <a:buChar char="➔"/>
            </a:pPr>
            <a:r>
              <a:rPr lang="en-US" sz="19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Missed Branches:	Decisiones de control de flujo no ejecutadas (como if, else, switch).</a:t>
            </a:r>
            <a:endParaRPr sz="19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uli"/>
              <a:buChar char="➔"/>
            </a:pPr>
            <a:r>
              <a:rPr lang="en-US" sz="19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Cov. (Branches): Cobertura de decisiones condicionales. Detecta si los tests exploran todas las rutas posibles.</a:t>
            </a:r>
            <a:endParaRPr sz="19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uli"/>
              <a:buChar char="➔"/>
            </a:pPr>
            <a:r>
              <a:rPr lang="en-US" sz="19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Missed Cxty: (Complejidad Ciclomática) Cantidad de caminos lógicos no cubiertos. Alta complejidad requiere más tests.</a:t>
            </a:r>
            <a:endParaRPr sz="19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uli"/>
              <a:buChar char="➔"/>
            </a:pPr>
            <a:r>
              <a:rPr lang="en-US" sz="19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Missed Lines: 	Líneas de código fuente que no se ejecutaron. Directamente visible para el dev.</a:t>
            </a:r>
            <a:endParaRPr sz="19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uli"/>
              <a:buChar char="➔"/>
            </a:pPr>
            <a:r>
              <a:rPr lang="en-US" sz="19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Missed Methods: 	Métodos que no fueron llamados por ningún test.</a:t>
            </a:r>
            <a:endParaRPr sz="19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uli"/>
              <a:buChar char="➔"/>
            </a:pPr>
            <a:r>
              <a:rPr lang="en-US" sz="19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Missed Classes: 	Clases que no se ejecutaron en absoluto. Si no están testeadas, son un riesgo potencial.</a:t>
            </a:r>
            <a:endParaRPr sz="19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861950" y="612700"/>
            <a:ext cx="10546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Cobertura de código con JaCoCo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72" name="Google Shape;172;p18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5263575"/>
            <a:ext cx="13131799" cy="1482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/>
        </p:nvSpPr>
        <p:spPr>
          <a:xfrm>
            <a:off x="861950" y="1490550"/>
            <a:ext cx="11910900" cy="55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ANÁLISIS ESTÁTICO CON SONARQUBE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🔍 Revisión del código sin ejecutarlo</a:t>
            </a:r>
            <a:b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</a:b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📌 Detecta: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➔"/>
            </a:pPr>
            <a:r>
              <a:rPr b="1" i="1" lang="en-US"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Bugs: 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Errores lógicos detectados que pueden causar fallos en tiempo de ejecución.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➔"/>
            </a:pPr>
            <a:r>
              <a:rPr b="1" i="1" lang="en-US"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Code Smells: 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Problemas de diseño o estilo que no son bugs, pero dificultan el mantenimiento.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➔"/>
            </a:pPr>
            <a:r>
              <a:rPr b="1" i="1" lang="en-US"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Duplicaciones: 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código 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repetido que aumentan el esfuerzo de mantenimiento.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➔"/>
            </a:pPr>
            <a:r>
              <a:rPr b="1" i="1" lang="en-US"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Cobertura de tests: 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Porcentaje del código ejecutado durante las pruebas automáticas.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Puede importar los reportes de cobertura generados por JaCoCo para mostrarlos junto al resto del análisis.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🧩 ¿Cómo trabajan juntos?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Char char="➔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JaCoCo genera el reporte de cobertura (target/site/jacoco/jacoco.xml).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Char char="➔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SonarQube lo lee e integra la cobertura en su panel de análisis.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861950" y="612700"/>
            <a:ext cx="10546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Pruebas Avanzadas con SONARQUBE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80" name="Google Shape;180;p19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/>
        </p:nvSpPr>
        <p:spPr>
          <a:xfrm>
            <a:off x="861950" y="612700"/>
            <a:ext cx="913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CONFIGURACIÓN EN MAVEN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20"/>
          <p:cNvSpPr txBox="1"/>
          <p:nvPr/>
        </p:nvSpPr>
        <p:spPr>
          <a:xfrm>
            <a:off x="3361950" y="4137000"/>
            <a:ext cx="74325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&lt;plugin&gt;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&lt;groupId&gt;</a:t>
            </a:r>
            <a:r>
              <a:rPr lang="en-US" sz="190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org</a:t>
            </a:r>
            <a:r>
              <a:rPr lang="en-US" sz="19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90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sonarsource</a:t>
            </a:r>
            <a:r>
              <a:rPr lang="en-US" sz="19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90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scanner</a:t>
            </a:r>
            <a:r>
              <a:rPr lang="en-US" sz="19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90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maven</a:t>
            </a:r>
            <a:r>
              <a:rPr lang="en-US" sz="19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&lt;/groupId&gt;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&lt;artifactId&gt;sonar-maven-plugin&lt;/artifactId&gt;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&lt;version&gt;</a:t>
            </a:r>
            <a:r>
              <a:rPr lang="en-US" sz="1900">
                <a:solidFill>
                  <a:srgbClr val="B5CEA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5.1.0.4751</a:t>
            </a:r>
            <a:r>
              <a:rPr lang="en-US" sz="19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&lt;/version&gt;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&lt;/plugin&gt;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048950" y="1413100"/>
            <a:ext cx="97455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¿Cómo usar SonarQube?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1) instalar SonarQube Server (localmente) o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o 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rear una cuenta SonarQube Cloud  y registrándote  y crea una organización (vinculada a tu github)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b="1" lang="en-US" sz="2000" u="sng">
                <a:solidFill>
                  <a:schemeClr val="hlink"/>
                </a:solidFill>
                <a:latin typeface="Muli"/>
                <a:ea typeface="Muli"/>
                <a:cs typeface="Muli"/>
                <a:sym typeface="Muli"/>
                <a:hlinkClick r:id="rId4"/>
              </a:rPr>
              <a:t>https://www.sonarsource.com/plans-and-pricing/sonarcloud/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2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) Instalar plugin en Pom.xml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/>
        </p:nvSpPr>
        <p:spPr>
          <a:xfrm>
            <a:off x="861950" y="612700"/>
            <a:ext cx="913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CONFIGURACIÓN EN MAVEN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94" name="Google Shape;194;p21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21"/>
          <p:cNvSpPr txBox="1"/>
          <p:nvPr/>
        </p:nvSpPr>
        <p:spPr>
          <a:xfrm>
            <a:off x="1048950" y="1413100"/>
            <a:ext cx="41340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Crear un token en SonarQube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1)En Mi Cuenta  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-&gt;  seguridad 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-&gt; generar tokens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-&gt; ingresar nombre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pic>
        <p:nvPicPr>
          <p:cNvPr id="196" name="Google Shape;19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3950" y="1474650"/>
            <a:ext cx="6465150" cy="4603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p21"/>
          <p:cNvCxnSpPr/>
          <p:nvPr/>
        </p:nvCxnSpPr>
        <p:spPr>
          <a:xfrm flipH="1" rot="10800000">
            <a:off x="4824750" y="5715825"/>
            <a:ext cx="1463400" cy="54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21"/>
          <p:cNvSpPr/>
          <p:nvPr/>
        </p:nvSpPr>
        <p:spPr>
          <a:xfrm>
            <a:off x="6165025" y="2223225"/>
            <a:ext cx="799500" cy="41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/>
        </p:nvSpPr>
        <p:spPr>
          <a:xfrm>
            <a:off x="861950" y="612700"/>
            <a:ext cx="913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CONFIGURACIÓN EN MAVEN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04" name="Google Shape;204;p22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22"/>
          <p:cNvSpPr txBox="1"/>
          <p:nvPr/>
        </p:nvSpPr>
        <p:spPr>
          <a:xfrm>
            <a:off x="1178450" y="3624775"/>
            <a:ext cx="97455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mvn sonar:sonar</a:t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"-</a:t>
            </a:r>
            <a:r>
              <a:rPr lang="en-US" sz="200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Dsonar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00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projectKey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=AlkemyJava2Clase14" "-</a:t>
            </a:r>
            <a:r>
              <a:rPr lang="en-US" sz="200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Dsonar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00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.organization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=miOrganizacion" "-</a:t>
            </a:r>
            <a:r>
              <a:rPr lang="en-US" sz="200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Dsonar.host.url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=https://sonarcloud.io" </a:t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"-</a:t>
            </a:r>
            <a:r>
              <a:rPr lang="en-US" sz="200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Dsonar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00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login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>
                <a:solidFill>
                  <a:srgbClr val="4EC9B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TOKEN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1048950" y="1507175"/>
            <a:ext cx="12059700" cy="50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2) Agregar en properties del Pom.xml: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&lt;sonar.projectKey&gt;miKeySonar&lt;/sonar.projectKey&gt;</a:t>
            </a:r>
            <a:endParaRPr sz="18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&lt;sonar.projectName&gt;AlkemyJava2Clase14&lt;/sonar.projectName&gt;</a:t>
            </a:r>
            <a:endParaRPr sz="18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&lt;sonar.java.binaries&gt;target/classes&lt;/sonar.java.binaries&gt;</a:t>
            </a:r>
            <a:endParaRPr sz="18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&lt;sonar.sourceEncoding&gt;UTF-8&lt;/sonar.sourceEncoding&gt;</a:t>
            </a:r>
            <a:endParaRPr sz="18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&lt;sonar.coverage.jacoco.xmlReportPaths&gt;target/site/jacoco/jacoco.xml&lt;/sonar.coverage.jacoco.xmlReportPaths&gt;</a:t>
            </a:r>
            <a:endParaRPr sz="18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3) Ejecutar en terminal: </a:t>
            </a:r>
            <a:endParaRPr b="1" sz="18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4) Acceder al reporte</a:t>
            </a:r>
            <a:endParaRPr b="1" sz="18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pic>
        <p:nvPicPr>
          <p:cNvPr id="207" name="Google Shape;20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320050"/>
            <a:ext cx="13131801" cy="402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/>
          <p:nvPr/>
        </p:nvSpPr>
        <p:spPr>
          <a:xfrm>
            <a:off x="861950" y="612700"/>
            <a:ext cx="913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CONFIGURACIÓN EN MAVEN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13" name="Google Shape;213;p23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3"/>
          <p:cNvSpPr txBox="1"/>
          <p:nvPr/>
        </p:nvSpPr>
        <p:spPr>
          <a:xfrm>
            <a:off x="762500" y="1413100"/>
            <a:ext cx="1221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¿Cómo leer el informe  de SonarQube?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pic>
        <p:nvPicPr>
          <p:cNvPr id="215" name="Google Shape;21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625" y="1903025"/>
            <a:ext cx="8102049" cy="496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3451" y="2168538"/>
            <a:ext cx="6193149" cy="4580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 txBox="1"/>
          <p:nvPr/>
        </p:nvSpPr>
        <p:spPr>
          <a:xfrm>
            <a:off x="861950" y="612700"/>
            <a:ext cx="913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CONFIGURACIÓN EN MAVEN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22" name="Google Shape;222;p24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24"/>
          <p:cNvSpPr txBox="1"/>
          <p:nvPr/>
        </p:nvSpPr>
        <p:spPr>
          <a:xfrm>
            <a:off x="861950" y="1820700"/>
            <a:ext cx="97455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¿Cómo leer el informe de SonarQube?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🎯 Lo más importante: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➔"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Bugs: 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Errores que impactan funcionalidad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➔"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Code Smells: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Mala práctica o diseño mejorable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➔"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Coverage: 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% del código cubierto por tests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➔"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Duplications: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Código repetido innecesariamente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🔍 Consejo: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Usá el informe para priorizar mejoras. No todos los "smells" son críticos, pero sí deben ser revisados.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/>
          <p:nvPr/>
        </p:nvSpPr>
        <p:spPr>
          <a:xfrm>
            <a:off x="861950" y="2405700"/>
            <a:ext cx="10845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➔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GitHub Copilot analiza funciones Java y sugiere automáticamente pruebas unitarias.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➔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Utiliza patrones comunes y el contexto del código para generar tests válidos.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➔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Los tests deben seguir principios como: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Char char="○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✅ Nombres claros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Char char="○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✅ Aserciones sólidas (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assertEquals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,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assertThrows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, etc.)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Char char="○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✅ Aislamiento de dependencias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🔎 </a:t>
            </a:r>
            <a:r>
              <a:rPr i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Las pruebas generadas deben revisarse y ajustarse si es necesario.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29" name="Google Shape;229;p25"/>
          <p:cNvSpPr txBox="1"/>
          <p:nvPr/>
        </p:nvSpPr>
        <p:spPr>
          <a:xfrm>
            <a:off x="861950" y="612700"/>
            <a:ext cx="1186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Copilot + JUnit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30" name="Google Shape;230;p25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"/>
          <p:cNvSpPr txBox="1"/>
          <p:nvPr/>
        </p:nvSpPr>
        <p:spPr>
          <a:xfrm>
            <a:off x="861950" y="2328750"/>
            <a:ext cx="75537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Crear clase de prueba: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MiClaseTest.java</a:t>
            </a:r>
            <a:endParaRPr sz="2000">
              <a:solidFill>
                <a:srgbClr val="188038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Escribir la firma del método de test (ej: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void testSuma()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)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Copilot sugiere automáticamente el cuerpo del test: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Calculadora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calc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Calculadora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assertEquals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calc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sumar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20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Aceptar sugerencia y ajustar si es necesario.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Ejecutar con JUnit para verificar que pase correctamente.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36" name="Google Shape;236;p26"/>
          <p:cNvSpPr txBox="1"/>
          <p:nvPr/>
        </p:nvSpPr>
        <p:spPr>
          <a:xfrm>
            <a:off x="861950" y="612700"/>
            <a:ext cx="1186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Generar Tests con Copilot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37" name="Google Shape;237;p26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 txBox="1"/>
          <p:nvPr/>
        </p:nvSpPr>
        <p:spPr>
          <a:xfrm>
            <a:off x="861950" y="1593650"/>
            <a:ext cx="10845300" cy="49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➔"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Clase bajo prueba: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UsuarioService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2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2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esMayorDeEdad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edad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edad </a:t>
            </a:r>
            <a:r>
              <a:rPr lang="en-US" sz="2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18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2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➔"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Test generado: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2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Test</a:t>
            </a:r>
            <a:endParaRPr sz="2000">
              <a:solidFill>
                <a:srgbClr val="4EC9B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testEsMayorDeEdad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2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2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UsuarioService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service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UsuarioService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2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assertTrue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service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esMayorDeEdad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2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2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assertFalse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service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esMayorDeEdad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17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2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✅ Resultado: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Copilot sugiere un test con entradas esperadas y validaciones automáticas.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43" name="Google Shape;243;p27"/>
          <p:cNvSpPr txBox="1"/>
          <p:nvPr/>
        </p:nvSpPr>
        <p:spPr>
          <a:xfrm>
            <a:off x="861950" y="612700"/>
            <a:ext cx="1186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Servicio de Usuario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44" name="Google Shape;244;p27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 txBox="1"/>
          <p:nvPr/>
        </p:nvSpPr>
        <p:spPr>
          <a:xfrm>
            <a:off x="861950" y="612700"/>
            <a:ext cx="1186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Aserciones comunes en JUnit 5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50" name="Google Shape;250;p28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51" name="Google Shape;251;p28"/>
          <p:cNvGraphicFramePr/>
          <p:nvPr/>
        </p:nvGraphicFramePr>
        <p:xfrm>
          <a:off x="544688" y="198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{5827F821-5034-43A5-A24F-95AAF647D3C3}</a:tableStyleId>
              </a:tblPr>
              <a:tblGrid>
                <a:gridCol w="6430425"/>
                <a:gridCol w="59168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Aserción</a:t>
                      </a:r>
                      <a:endParaRPr b="1" sz="2000">
                        <a:solidFill>
                          <a:schemeClr val="lt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6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Uso</a:t>
                      </a:r>
                      <a:endParaRPr b="1" sz="2000">
                        <a:solidFill>
                          <a:schemeClr val="lt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68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assertEquals(expected, actual)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uli"/>
                          <a:ea typeface="Muli"/>
                          <a:cs typeface="Muli"/>
                          <a:sym typeface="Muli"/>
                        </a:rPr>
                        <a:t>Compara valores esperados vs reales</a:t>
                      </a:r>
                      <a:endParaRPr sz="2000"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assertTrue(condition)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uli"/>
                          <a:ea typeface="Muli"/>
                          <a:cs typeface="Muli"/>
                          <a:sym typeface="Muli"/>
                        </a:rPr>
                        <a:t>Verifica que una condición sea verdadera</a:t>
                      </a:r>
                      <a:endParaRPr sz="2000"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assertFalse(condition)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uli"/>
                          <a:ea typeface="Muli"/>
                          <a:cs typeface="Muli"/>
                          <a:sym typeface="Muli"/>
                        </a:rPr>
                        <a:t>Verifica que una condición sea falsa</a:t>
                      </a:r>
                      <a:endParaRPr sz="2000"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assertNull(value)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uli"/>
                          <a:ea typeface="Muli"/>
                          <a:cs typeface="Muli"/>
                          <a:sym typeface="Muli"/>
                        </a:rPr>
                        <a:t>Verifica que el valor sea nulo</a:t>
                      </a:r>
                      <a:endParaRPr sz="2000"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assertNotNull(value)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uli"/>
                          <a:ea typeface="Muli"/>
                          <a:cs typeface="Muli"/>
                          <a:sym typeface="Muli"/>
                        </a:rPr>
                        <a:t>Verifica que no sea nulo</a:t>
                      </a:r>
                      <a:endParaRPr sz="2000"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assertThrows(Exception.class, () -&gt; ...)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uli"/>
                          <a:ea typeface="Muli"/>
                          <a:cs typeface="Muli"/>
                          <a:sym typeface="Muli"/>
                        </a:rPr>
                        <a:t>Verifica que se lance una excepción</a:t>
                      </a:r>
                      <a:endParaRPr sz="2000"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2" name="Google Shape;252;p28"/>
          <p:cNvSpPr txBox="1"/>
          <p:nvPr/>
        </p:nvSpPr>
        <p:spPr>
          <a:xfrm>
            <a:off x="861950" y="5850875"/>
            <a:ext cx="1004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latin typeface="Muli"/>
                <a:ea typeface="Muli"/>
                <a:cs typeface="Muli"/>
                <a:sym typeface="Muli"/>
              </a:rPr>
              <a:t>💡 Combiná múltiples aserciones en un mismo test si tiene sentido, ¡pero con foco!</a:t>
            </a:r>
            <a:endParaRPr sz="2000"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/>
          <p:nvPr/>
        </p:nvSpPr>
        <p:spPr>
          <a:xfrm>
            <a:off x="861950" y="612700"/>
            <a:ext cx="1186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Tests con dependencias externas (Mockito)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58" name="Google Shape;258;p29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29"/>
          <p:cNvSpPr txBox="1"/>
          <p:nvPr/>
        </p:nvSpPr>
        <p:spPr>
          <a:xfrm>
            <a:off x="436349" y="1737750"/>
            <a:ext cx="59718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7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ServicioUsuario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7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private final 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Notificador notificador;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 ServicioUsuario(Notificador notificador) {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700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this.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notificador = notificador;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7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-US" sz="17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enviarAlerta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(String email) {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   notificador.enviar(email, </a:t>
            </a:r>
            <a:r>
              <a:rPr lang="en-US" sz="17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"Alerta enviada"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0" name="Google Shape;260;p29"/>
          <p:cNvSpPr txBox="1"/>
          <p:nvPr/>
        </p:nvSpPr>
        <p:spPr>
          <a:xfrm>
            <a:off x="6692163" y="1737738"/>
            <a:ext cx="63081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@Test</a:t>
            </a:r>
            <a:endParaRPr sz="17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7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testEnviarAlerta</a:t>
            </a:r>
            <a:r>
              <a:rPr lang="en-U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Notificador mock = mock(Notificador.class);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ServicioUsuario s = </a:t>
            </a:r>
            <a:r>
              <a:rPr lang="en-US" sz="17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new </a:t>
            </a:r>
            <a:r>
              <a:rPr lang="en-US" sz="17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ServicioUsuario</a:t>
            </a:r>
            <a:r>
              <a:rPr lang="en-U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(mock);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s.enviarAlerta(</a:t>
            </a:r>
            <a:r>
              <a:rPr lang="en-US" sz="17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"persona@banco.com"</a:t>
            </a:r>
            <a:r>
              <a:rPr lang="en-U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verify(mock).enviar(</a:t>
            </a:r>
            <a:r>
              <a:rPr lang="en-US" sz="17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"persona@banco.com"</a:t>
            </a:r>
            <a:r>
              <a:rPr lang="en-U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7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"Alerta enviada"</a:t>
            </a:r>
            <a:r>
              <a:rPr lang="en-U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1" name="Google Shape;261;p29"/>
          <p:cNvSpPr txBox="1"/>
          <p:nvPr/>
        </p:nvSpPr>
        <p:spPr>
          <a:xfrm>
            <a:off x="861950" y="5294900"/>
            <a:ext cx="7256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🧠 Usamos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mock()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para crear un objeto simulado.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🔎 Verificamos si se llamó con los parámetros correctos.</a:t>
            </a:r>
            <a:endParaRPr sz="2000"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0"/>
          <p:cNvSpPr txBox="1"/>
          <p:nvPr/>
        </p:nvSpPr>
        <p:spPr>
          <a:xfrm>
            <a:off x="275800" y="2061050"/>
            <a:ext cx="128850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🧠 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Revisá las sugerencias generadas: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Copilot puede equivocarse o asumir lógica incorrecta.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🧪 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Agregá casos límite o negativos: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No te quedes solo con los ejemplos “felices”.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📝 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Usá nombres de métodos descriptivos: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Ej: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testSumaConNumerosNegativos()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🔍 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Validá siempre los valores esperados: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Nunca confíes 100% en el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assertEquals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sugerido.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🔄 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Completá la cobertura con pruebas que Copilot no sugiere: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Validaciones nulas, errores esperados, etc.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♻️ 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Ejecutá los tests regularmente en tu flujo CI/CD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para asegurarte de que todo se mantiene en verde.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🚫 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No uses Copilot como reemplazo del pensamiento: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Usalo como asistente, no como autor final.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✅ No aceptar tests redundantes o triviales (evaluar el valor del test).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67" name="Google Shape;267;p30"/>
          <p:cNvSpPr txBox="1"/>
          <p:nvPr/>
        </p:nvSpPr>
        <p:spPr>
          <a:xfrm>
            <a:off x="861950" y="612700"/>
            <a:ext cx="1186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Buenas Prácticas al usar Copilot para Testing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68" name="Google Shape;268;p30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1"/>
          <p:cNvSpPr txBox="1"/>
          <p:nvPr/>
        </p:nvSpPr>
        <p:spPr>
          <a:xfrm>
            <a:off x="861950" y="1543650"/>
            <a:ext cx="103932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🧠 Buenas prácticas en pruebas unitarias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✔️ AAA: 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Organizá tus tests en tres bloques: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➔"/>
            </a:pPr>
            <a:r>
              <a:rPr b="1" i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Arrange: 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Preparar datos y dependencias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➔"/>
            </a:pPr>
            <a:r>
              <a:rPr b="1" i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Act: 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Ejecutar la lógica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➔"/>
            </a:pPr>
            <a:r>
              <a:rPr b="1" i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Assert: 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Verificar el resultado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✔️ Una sola lógica por test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✔️ Nombres descriptivos: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deberiaRechazarClienteMenorDeEdad()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🚫 Evitá: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➔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Lógica duplicada del método real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➔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Tests que dependen entre sí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➔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Assertions ambiguos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✅ Usá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@BeforeEach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para inicializar objetos comunes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74" name="Google Shape;274;p31"/>
          <p:cNvSpPr txBox="1"/>
          <p:nvPr/>
        </p:nvSpPr>
        <p:spPr>
          <a:xfrm>
            <a:off x="861950" y="612700"/>
            <a:ext cx="1186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Buenas Prácticas en Pruebas Unitarias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75" name="Google Shape;275;p31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2"/>
          <p:cNvSpPr txBox="1"/>
          <p:nvPr/>
        </p:nvSpPr>
        <p:spPr>
          <a:xfrm>
            <a:off x="861950" y="2313300"/>
            <a:ext cx="10845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Copilot puede sugerir validaciones de errores, por ejemplo:</a:t>
            </a:r>
            <a:endParaRPr sz="11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2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Test</a:t>
            </a:r>
            <a:endParaRPr sz="2000">
              <a:solidFill>
                <a:srgbClr val="4EC9B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testDivisionPorCero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2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Calculadora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calc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Calculadora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assertThrows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ArithmeticException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n-US" sz="2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calc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dividir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2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3810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🚀 Esto refuerza que no solo hay que probar lo que "funciona bien", sino también los errores esperados.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81" name="Google Shape;281;p32"/>
          <p:cNvSpPr txBox="1"/>
          <p:nvPr/>
        </p:nvSpPr>
        <p:spPr>
          <a:xfrm>
            <a:off x="861950" y="612700"/>
            <a:ext cx="1186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Test Negativos o de Errores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82" name="Google Shape;282;p32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 txBox="1"/>
          <p:nvPr/>
        </p:nvSpPr>
        <p:spPr>
          <a:xfrm>
            <a:off x="861950" y="2351850"/>
            <a:ext cx="108453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Una vez que los tests se generan y ejecutan, es recomendable 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medir la cobertura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: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A4680"/>
              </a:buClr>
              <a:buSzPts val="2000"/>
              <a:buChar char="➔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Usar plugins como 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JaCoCo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en Maven.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➔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Verificar si realmente se están cubriendo todos los caminos del código.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Ejemplo de ejecución: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mvn clean verify jacoco</a:t>
            </a:r>
            <a:r>
              <a:rPr lang="en-US" sz="2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report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8" name="Google Shape;288;p33"/>
          <p:cNvSpPr txBox="1"/>
          <p:nvPr/>
        </p:nvSpPr>
        <p:spPr>
          <a:xfrm>
            <a:off x="861950" y="612700"/>
            <a:ext cx="1186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Cobertura de Código y Medición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89" name="Google Shape;289;p33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4"/>
          <p:cNvSpPr txBox="1"/>
          <p:nvPr/>
        </p:nvSpPr>
        <p:spPr>
          <a:xfrm>
            <a:off x="861950" y="1260700"/>
            <a:ext cx="253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Ejemplo en vivo</a:t>
            </a:r>
            <a:endParaRPr sz="13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95" name="Google Shape;295;p34"/>
          <p:cNvSpPr txBox="1"/>
          <p:nvPr/>
        </p:nvSpPr>
        <p:spPr>
          <a:xfrm>
            <a:off x="861950" y="612700"/>
            <a:ext cx="913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LIVE CODING</a:t>
            </a:r>
            <a:endParaRPr sz="40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96" name="Google Shape;296;p34"/>
          <p:cNvSpPr txBox="1"/>
          <p:nvPr/>
        </p:nvSpPr>
        <p:spPr>
          <a:xfrm>
            <a:off x="861950" y="2130425"/>
            <a:ext cx="10777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Crear tests unitarios automáticos con JUnit 5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Vamos a crear una clase de servicio simple en Java y utilizar GitHub Copilot para generar automáticamente pruebas unitarias con JUnit. Aprenderemos a interpretar las sugerencias, validarlas y ejecutarlas correctamente.</a:t>
            </a:r>
            <a:endParaRPr i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97" name="Google Shape;297;p34"/>
          <p:cNvSpPr txBox="1"/>
          <p:nvPr/>
        </p:nvSpPr>
        <p:spPr>
          <a:xfrm>
            <a:off x="861950" y="6655625"/>
            <a:ext cx="845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US" sz="2000">
                <a:solidFill>
                  <a:schemeClr val="dk1"/>
                </a:solidFill>
                <a:highlight>
                  <a:srgbClr val="C9C9C9"/>
                </a:highlight>
                <a:latin typeface="Muli"/>
                <a:ea typeface="Muli"/>
                <a:cs typeface="Muli"/>
                <a:sym typeface="Muli"/>
              </a:rPr>
              <a:t>Tiempo: 20 minutos.</a:t>
            </a:r>
            <a:endParaRPr i="1" sz="2000">
              <a:solidFill>
                <a:schemeClr val="dk1"/>
              </a:solidFill>
              <a:highlight>
                <a:srgbClr val="C9C9C9"/>
              </a:highlight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298" name="Google Shape;298;p34"/>
          <p:cNvGrpSpPr/>
          <p:nvPr/>
        </p:nvGrpSpPr>
        <p:grpSpPr>
          <a:xfrm>
            <a:off x="10975175" y="6784000"/>
            <a:ext cx="2138655" cy="735375"/>
            <a:chOff x="10975175" y="6707800"/>
            <a:chExt cx="2138655" cy="735375"/>
          </a:xfrm>
        </p:grpSpPr>
        <p:sp>
          <p:nvSpPr>
            <p:cNvPr id="299" name="Google Shape;299;p34"/>
            <p:cNvSpPr txBox="1"/>
            <p:nvPr/>
          </p:nvSpPr>
          <p:spPr>
            <a:xfrm>
              <a:off x="12125725" y="6859938"/>
              <a:ext cx="628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600">
                  <a:solidFill>
                    <a:srgbClr val="AEAEA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by</a:t>
              </a:r>
              <a:endParaRPr b="1" i="1" sz="1600">
                <a:solidFill>
                  <a:srgbClr val="AEAEA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00" name="Google Shape;300;p34"/>
            <p:cNvPicPr preferRelativeResize="0"/>
            <p:nvPr/>
          </p:nvPicPr>
          <p:blipFill rotWithShape="1">
            <a:blip r:embed="rId4">
              <a:alphaModFix/>
            </a:blip>
            <a:srcRect b="0" l="0" r="6323" t="0"/>
            <a:stretch/>
          </p:blipFill>
          <p:spPr>
            <a:xfrm>
              <a:off x="10975175" y="6707800"/>
              <a:ext cx="1224749" cy="735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34"/>
            <p:cNvPicPr preferRelativeResize="0"/>
            <p:nvPr/>
          </p:nvPicPr>
          <p:blipFill rotWithShape="1">
            <a:blip r:embed="rId5">
              <a:alphaModFix/>
            </a:blip>
            <a:srcRect b="38679" l="8652" r="72040" t="35754"/>
            <a:stretch/>
          </p:blipFill>
          <p:spPr>
            <a:xfrm>
              <a:off x="12558428" y="6707800"/>
              <a:ext cx="555402" cy="7353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2" name="Google Shape;302;p34"/>
          <p:cNvSpPr txBox="1"/>
          <p:nvPr/>
        </p:nvSpPr>
        <p:spPr>
          <a:xfrm>
            <a:off x="861950" y="3546425"/>
            <a:ext cx="11993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🔢 Paso a paso: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Crear clase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Calculadora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con método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int sumar(int a, int b)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Crear clase de prueba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CalculadoraTest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Escribir firma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@Test void testSumar()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y dejar el cursor dentro del método.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Copilot sugerirá automáticamente el cuerpo del test (ej.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assertEquals(5, calc.sumar(2, 3))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).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Aceptar la sugerencia o modificarla si es necesario.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Agregar otro test para un caso negativo (por ejemplo, números negativos).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Ejecutar los tests desde el IDE o consola.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Validar que los resultados sean correctos y que se cubran los principales escenarios.</a:t>
            </a:r>
            <a:endParaRPr sz="2000"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5"/>
          <p:cNvPicPr preferRelativeResize="0"/>
          <p:nvPr/>
        </p:nvPicPr>
        <p:blipFill rotWithShape="1">
          <a:blip r:embed="rId4">
            <a:alphaModFix/>
          </a:blip>
          <a:srcRect b="5514" l="15690" r="0" t="3947"/>
          <a:stretch/>
        </p:blipFill>
        <p:spPr>
          <a:xfrm>
            <a:off x="0" y="-148825"/>
            <a:ext cx="13436600" cy="699665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5"/>
          <p:cNvSpPr txBox="1"/>
          <p:nvPr/>
        </p:nvSpPr>
        <p:spPr>
          <a:xfrm>
            <a:off x="1014350" y="2549550"/>
            <a:ext cx="4698600" cy="18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Momento:</a:t>
            </a:r>
            <a:endParaRPr sz="20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Time-out!</a:t>
            </a:r>
            <a:endParaRPr sz="60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US"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⏰5 min.</a:t>
            </a:r>
            <a:endParaRPr sz="60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6"/>
          <p:cNvSpPr txBox="1"/>
          <p:nvPr/>
        </p:nvSpPr>
        <p:spPr>
          <a:xfrm>
            <a:off x="1553950" y="2505750"/>
            <a:ext cx="103287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lang="en-US" sz="37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Ejercicio N°1</a:t>
            </a:r>
            <a:endParaRPr sz="37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lang="en-US" sz="6200">
                <a:solidFill>
                  <a:srgbClr val="AEAEAE"/>
                </a:solidFill>
                <a:latin typeface="Muli"/>
                <a:ea typeface="Muli"/>
                <a:cs typeface="Muli"/>
                <a:sym typeface="Muli"/>
              </a:rPr>
              <a:t>Generación de Pruebas Unitarias con Copilot</a:t>
            </a:r>
            <a:endParaRPr sz="6200">
              <a:solidFill>
                <a:srgbClr val="AEAEAE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14" name="Google Shape;314;p36"/>
          <p:cNvSpPr/>
          <p:nvPr/>
        </p:nvSpPr>
        <p:spPr>
          <a:xfrm flipH="1">
            <a:off x="0" y="0"/>
            <a:ext cx="1793700" cy="1793700"/>
          </a:xfrm>
          <a:prstGeom prst="teardrop">
            <a:avLst>
              <a:gd fmla="val 100000" name="adj"/>
            </a:avLst>
          </a:prstGeom>
          <a:solidFill>
            <a:srgbClr val="AEAEA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5" name="Google Shape;31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600" y="420600"/>
            <a:ext cx="9525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7"/>
          <p:cNvSpPr txBox="1"/>
          <p:nvPr/>
        </p:nvSpPr>
        <p:spPr>
          <a:xfrm>
            <a:off x="861950" y="1882850"/>
            <a:ext cx="11079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🙌 Contexto: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En tu equipo se está impulsando la automatización de tareas repetitivas para ganar tiempo en el desarrollo. Una de las estrategias adoptadas es el uso de 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GitHub Copilot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para generar pruebas unitarias con JUnit de manera más rápida y estructurada.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21" name="Google Shape;321;p37"/>
          <p:cNvSpPr txBox="1"/>
          <p:nvPr/>
        </p:nvSpPr>
        <p:spPr>
          <a:xfrm>
            <a:off x="861950" y="5472600"/>
            <a:ext cx="565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Tiempo🕛: 20 minutos.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22" name="Google Shape;322;p37"/>
          <p:cNvSpPr txBox="1"/>
          <p:nvPr/>
        </p:nvSpPr>
        <p:spPr>
          <a:xfrm>
            <a:off x="861950" y="612700"/>
            <a:ext cx="11431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Generación de Pruebas Unitarias con Copilot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323" name="Google Shape;323;p37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37"/>
          <p:cNvSpPr txBox="1"/>
          <p:nvPr/>
        </p:nvSpPr>
        <p:spPr>
          <a:xfrm>
            <a:off x="861950" y="3677725"/>
            <a:ext cx="11079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✍️ Consigna: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Usá Copilot para generar una prueba unitaria para un método simple de una clase Java. Luego, verificá la lógica propuesta, adaptala si es necesario y ejecutá el test para asegurarte de que pase correctamente.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8"/>
          <p:cNvSpPr txBox="1"/>
          <p:nvPr/>
        </p:nvSpPr>
        <p:spPr>
          <a:xfrm>
            <a:off x="890050" y="1866900"/>
            <a:ext cx="116565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⚙️ Paso a paso: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Crear una clase Java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Calculadora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con un método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int restar(int a, int b)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Crear la clase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CalculadoraTest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Dentro de ella, escribí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@Test void testRestar()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y posicionate en la línea del cuerpo del método.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Copilot sugerirá algo como:</a:t>
            </a:r>
            <a:b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</a:br>
            <a:r>
              <a:rPr lang="en-US" sz="2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Calculadora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calc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Calculadora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assertEquals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calc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restar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Aceptá o ajustá el test.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Agregá un segundo test con números negativos o ceros.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Ejecutá los tests y verificá los resultados.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30" name="Google Shape;330;p38"/>
          <p:cNvSpPr txBox="1"/>
          <p:nvPr/>
        </p:nvSpPr>
        <p:spPr>
          <a:xfrm>
            <a:off x="861950" y="612700"/>
            <a:ext cx="1165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Generación de Pruebas Unitarias con Copilot</a:t>
            </a:r>
            <a:endParaRPr sz="4000">
              <a:solidFill>
                <a:srgbClr val="0A468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331" name="Google Shape;331;p38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9"/>
          <p:cNvSpPr txBox="1"/>
          <p:nvPr/>
        </p:nvSpPr>
        <p:spPr>
          <a:xfrm>
            <a:off x="890050" y="1988075"/>
            <a:ext cx="11656500" cy="4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📁 ¿Dónde se escriben los tests en un proyecto Java?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💡 Las clases de test deben replicar el mismo package que el código que prueban.</a:t>
            </a:r>
            <a:endParaRPr i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✍ Esto permite acceder a métodos con visibilidad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package-private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y organizar mejor el código.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37" name="Google Shape;337;p39"/>
          <p:cNvSpPr txBox="1"/>
          <p:nvPr/>
        </p:nvSpPr>
        <p:spPr>
          <a:xfrm>
            <a:off x="861950" y="612700"/>
            <a:ext cx="1165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Generación de Pruebas Unitarias con Copilot</a:t>
            </a:r>
            <a:endParaRPr sz="4000">
              <a:solidFill>
                <a:srgbClr val="0A468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338" name="Google Shape;338;p39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39" name="Google Shape;33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3950" y="2683500"/>
            <a:ext cx="3810000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0"/>
          <p:cNvSpPr txBox="1"/>
          <p:nvPr/>
        </p:nvSpPr>
        <p:spPr>
          <a:xfrm>
            <a:off x="861950" y="1555300"/>
            <a:ext cx="589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🔄 Integrar JUnit en tu CI/CD (GitHub Actions)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45" name="Google Shape;345;p40"/>
          <p:cNvSpPr txBox="1"/>
          <p:nvPr/>
        </p:nvSpPr>
        <p:spPr>
          <a:xfrm>
            <a:off x="861950" y="612700"/>
            <a:ext cx="1165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Tests en CI/CD: ejemplo con GitHub Actions</a:t>
            </a:r>
            <a:endParaRPr sz="4000">
              <a:solidFill>
                <a:srgbClr val="0A468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346" name="Google Shape;346;p40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40"/>
          <p:cNvSpPr txBox="1"/>
          <p:nvPr/>
        </p:nvSpPr>
        <p:spPr>
          <a:xfrm>
            <a:off x="861950" y="2047900"/>
            <a:ext cx="47565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name: </a:t>
            </a:r>
            <a:r>
              <a:rPr lang="en-US" sz="18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Java CI</a:t>
            </a:r>
            <a:endParaRPr sz="18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on: 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18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push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jobs:</a:t>
            </a:r>
            <a:endParaRPr sz="1800">
              <a:solidFill>
                <a:srgbClr val="B45F0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  test:</a:t>
            </a:r>
            <a:endParaRPr sz="1800">
              <a:solidFill>
                <a:srgbClr val="B45F0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    runs-on: </a:t>
            </a:r>
            <a:r>
              <a:rPr lang="en-US" sz="18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ubuntu-latest</a:t>
            </a:r>
            <a:endParaRPr sz="18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   steps:</a:t>
            </a:r>
            <a:endParaRPr sz="1800">
              <a:solidFill>
                <a:srgbClr val="B45F0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      - </a:t>
            </a:r>
            <a:r>
              <a:rPr lang="en-US" sz="1800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uses: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actions/checkout@v2</a:t>
            </a:r>
            <a:endParaRPr sz="18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      - </a:t>
            </a:r>
            <a:r>
              <a:rPr lang="en-US" sz="1800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name: </a:t>
            </a:r>
            <a:r>
              <a:rPr lang="en-US" sz="18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Configurar Java</a:t>
            </a:r>
            <a:endParaRPr sz="18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800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uses: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actions/setup-java@v2</a:t>
            </a:r>
            <a:endParaRPr sz="18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 with:</a:t>
            </a:r>
            <a:endParaRPr sz="1800">
              <a:solidFill>
                <a:srgbClr val="B45F0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          java-version: </a:t>
            </a:r>
            <a:r>
              <a:rPr lang="en-US" sz="18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'17'</a:t>
            </a:r>
            <a:endParaRPr sz="18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      - </a:t>
            </a:r>
            <a:r>
              <a:rPr lang="en-US" sz="1800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name: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Ejecutar tests</a:t>
            </a:r>
            <a:endParaRPr sz="18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800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run: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mvn test</a:t>
            </a:r>
            <a:endParaRPr sz="18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0"/>
          <p:cNvSpPr txBox="1"/>
          <p:nvPr/>
        </p:nvSpPr>
        <p:spPr>
          <a:xfrm>
            <a:off x="5785100" y="5803600"/>
            <a:ext cx="7339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Muli"/>
                <a:ea typeface="Muli"/>
                <a:cs typeface="Muli"/>
                <a:sym typeface="Muli"/>
              </a:rPr>
              <a:t>📌 Si los tests fallan, el pipeline se detiene.</a:t>
            </a:r>
            <a:endParaRPr sz="2000"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Muli"/>
                <a:ea typeface="Muli"/>
                <a:cs typeface="Muli"/>
                <a:sym typeface="Muli"/>
              </a:rPr>
              <a:t>🔒 Esto protege la calidad del código antes de hacer merge.</a:t>
            </a:r>
            <a:endParaRPr sz="2000"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1"/>
          <p:cNvSpPr txBox="1"/>
          <p:nvPr/>
        </p:nvSpPr>
        <p:spPr>
          <a:xfrm>
            <a:off x="861950" y="1260700"/>
            <a:ext cx="253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¿Qué logramos hoy?</a:t>
            </a:r>
            <a:endParaRPr sz="13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54" name="Google Shape;354;p41"/>
          <p:cNvSpPr txBox="1"/>
          <p:nvPr/>
        </p:nvSpPr>
        <p:spPr>
          <a:xfrm>
            <a:off x="861950" y="612700"/>
            <a:ext cx="913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RESUMEN</a:t>
            </a:r>
            <a:endParaRPr sz="40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355" name="Google Shape;355;p41"/>
          <p:cNvGrpSpPr/>
          <p:nvPr/>
        </p:nvGrpSpPr>
        <p:grpSpPr>
          <a:xfrm>
            <a:off x="10975175" y="6784000"/>
            <a:ext cx="2138655" cy="735375"/>
            <a:chOff x="10975175" y="6707800"/>
            <a:chExt cx="2138655" cy="735375"/>
          </a:xfrm>
        </p:grpSpPr>
        <p:sp>
          <p:nvSpPr>
            <p:cNvPr id="356" name="Google Shape;356;p41"/>
            <p:cNvSpPr txBox="1"/>
            <p:nvPr/>
          </p:nvSpPr>
          <p:spPr>
            <a:xfrm>
              <a:off x="12125725" y="6859938"/>
              <a:ext cx="628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600">
                  <a:solidFill>
                    <a:srgbClr val="AEAEA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by</a:t>
              </a:r>
              <a:endParaRPr b="1" i="1" sz="1600">
                <a:solidFill>
                  <a:srgbClr val="AEAEA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57" name="Google Shape;357;p41"/>
            <p:cNvPicPr preferRelativeResize="0"/>
            <p:nvPr/>
          </p:nvPicPr>
          <p:blipFill rotWithShape="1">
            <a:blip r:embed="rId4">
              <a:alphaModFix/>
            </a:blip>
            <a:srcRect b="0" l="0" r="6323" t="0"/>
            <a:stretch/>
          </p:blipFill>
          <p:spPr>
            <a:xfrm>
              <a:off x="10975175" y="6707800"/>
              <a:ext cx="1224749" cy="735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41"/>
            <p:cNvPicPr preferRelativeResize="0"/>
            <p:nvPr/>
          </p:nvPicPr>
          <p:blipFill rotWithShape="1">
            <a:blip r:embed="rId5">
              <a:alphaModFix/>
            </a:blip>
            <a:srcRect b="38679" l="8652" r="72040" t="35754"/>
            <a:stretch/>
          </p:blipFill>
          <p:spPr>
            <a:xfrm>
              <a:off x="12558428" y="6707800"/>
              <a:ext cx="555402" cy="7353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9" name="Google Shape;359;p41"/>
          <p:cNvSpPr txBox="1"/>
          <p:nvPr/>
        </p:nvSpPr>
        <p:spPr>
          <a:xfrm>
            <a:off x="754000" y="2878300"/>
            <a:ext cx="11928600" cy="26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Comprendimos cómo GitHub Copilot puede asistir en la generación de pruebas unitarias.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Aprendimos a generar y completar métodos de prueba utilizando sugerencias automáticas.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Escribimos y ejecutamos pruebas reales usando JUnit 5.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Validamos el comportamiento de métodos simples y cubrimos casos positivos y negativos.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Reforzamos buenas prácticas como el uso de nombres claros, aserciones válidas y aislamiento.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Integramos pruebas automatizadas en el flujo de trabajo de desarrollo de manera efectiva.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42" title="Encuesta 1 - BBVA JAVA N2 - W3 (Modulos 4-6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9837" y="2520900"/>
            <a:ext cx="3588775" cy="3588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65" name="Google Shape;365;p42" title="Billie Eilish - BIRDS OF A FEATHER (Lyrics).mp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393827" y="301060"/>
            <a:ext cx="455764" cy="45576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2"/>
          <p:cNvSpPr txBox="1"/>
          <p:nvPr>
            <p:ph idx="4294967295" type="title"/>
          </p:nvPr>
        </p:nvSpPr>
        <p:spPr>
          <a:xfrm>
            <a:off x="690250" y="704125"/>
            <a:ext cx="6723900" cy="9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-US" sz="4000">
                <a:solidFill>
                  <a:srgbClr val="002690"/>
                </a:solidFill>
                <a:latin typeface="Muli"/>
                <a:ea typeface="Muli"/>
                <a:cs typeface="Muli"/>
                <a:sym typeface="Muli"/>
              </a:rPr>
              <a:t>#MomentoCheckout</a:t>
            </a:r>
            <a:endParaRPr i="1" sz="1800">
              <a:solidFill>
                <a:srgbClr val="002690"/>
              </a:solidFill>
              <a:latin typeface="Muli"/>
              <a:ea typeface="Muli"/>
              <a:cs typeface="Muli"/>
              <a:sym typeface="Muli"/>
            </a:endParaRPr>
          </a:p>
        </p:txBody>
      </p:sp>
      <p:pic>
        <p:nvPicPr>
          <p:cNvPr id="367" name="Google Shape;367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40014" y="2520898"/>
            <a:ext cx="3588788" cy="3588788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2"/>
          <p:cNvSpPr txBox="1"/>
          <p:nvPr/>
        </p:nvSpPr>
        <p:spPr>
          <a:xfrm>
            <a:off x="5531530" y="1852636"/>
            <a:ext cx="2885400" cy="5640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134475" lIns="134475" spcFirstLastPara="1" rIns="134475" wrap="square" tIns="134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QR de Encuesta</a:t>
            </a:r>
            <a:endParaRPr b="1" sz="19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pic>
        <p:nvPicPr>
          <p:cNvPr id="369" name="Google Shape;369;p42"/>
          <p:cNvPicPr preferRelativeResize="0"/>
          <p:nvPr/>
        </p:nvPicPr>
        <p:blipFill rotWithShape="1">
          <a:blip r:embed="rId8">
            <a:alphaModFix/>
          </a:blip>
          <a:srcRect b="26134" l="0" r="3679" t="0"/>
          <a:stretch/>
        </p:blipFill>
        <p:spPr>
          <a:xfrm>
            <a:off x="9157474" y="3455550"/>
            <a:ext cx="3588776" cy="1719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3"/>
          <p:cNvSpPr txBox="1"/>
          <p:nvPr/>
        </p:nvSpPr>
        <p:spPr>
          <a:xfrm>
            <a:off x="2544850" y="3236850"/>
            <a:ext cx="8346900" cy="1062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5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¿Alguna consulta?</a:t>
            </a:r>
            <a:endParaRPr sz="5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375" name="Google Shape;375;p43"/>
          <p:cNvGrpSpPr/>
          <p:nvPr/>
        </p:nvGrpSpPr>
        <p:grpSpPr>
          <a:xfrm>
            <a:off x="9698473" y="4394048"/>
            <a:ext cx="292645" cy="284928"/>
            <a:chOff x="2797873" y="624854"/>
            <a:chExt cx="193843" cy="193842"/>
          </a:xfrm>
        </p:grpSpPr>
        <p:sp>
          <p:nvSpPr>
            <p:cNvPr id="376" name="Google Shape;376;p43"/>
            <p:cNvSpPr/>
            <p:nvPr/>
          </p:nvSpPr>
          <p:spPr>
            <a:xfrm>
              <a:off x="2797873" y="705536"/>
              <a:ext cx="76151" cy="29532"/>
            </a:xfrm>
            <a:custGeom>
              <a:rect b="b" l="l" r="r" t="t"/>
              <a:pathLst>
                <a:path extrusionOk="0" h="29532" w="76151">
                  <a:moveTo>
                    <a:pt x="62592" y="1228"/>
                  </a:moveTo>
                  <a:lnTo>
                    <a:pt x="49898" y="909"/>
                  </a:lnTo>
                  <a:lnTo>
                    <a:pt x="37203" y="590"/>
                  </a:lnTo>
                  <a:lnTo>
                    <a:pt x="24507" y="273"/>
                  </a:lnTo>
                  <a:lnTo>
                    <a:pt x="13557" y="0"/>
                  </a:lnTo>
                  <a:lnTo>
                    <a:pt x="2737" y="4867"/>
                  </a:lnTo>
                  <a:lnTo>
                    <a:pt x="0" y="15666"/>
                  </a:lnTo>
                  <a:lnTo>
                    <a:pt x="5344" y="25566"/>
                  </a:lnTo>
                  <a:lnTo>
                    <a:pt x="13557" y="28300"/>
                  </a:lnTo>
                  <a:lnTo>
                    <a:pt x="26256" y="28619"/>
                  </a:lnTo>
                  <a:lnTo>
                    <a:pt x="38952" y="28938"/>
                  </a:lnTo>
                  <a:lnTo>
                    <a:pt x="51647" y="29257"/>
                  </a:lnTo>
                  <a:lnTo>
                    <a:pt x="62592" y="29532"/>
                  </a:lnTo>
                  <a:lnTo>
                    <a:pt x="73413" y="24663"/>
                  </a:lnTo>
                  <a:lnTo>
                    <a:pt x="76151" y="13864"/>
                  </a:lnTo>
                  <a:lnTo>
                    <a:pt x="70808" y="3963"/>
                  </a:lnTo>
                  <a:lnTo>
                    <a:pt x="62592" y="122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A437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43"/>
            <p:cNvSpPr/>
            <p:nvPr/>
          </p:nvSpPr>
          <p:spPr>
            <a:xfrm>
              <a:off x="2915567" y="708484"/>
              <a:ext cx="76149" cy="29532"/>
            </a:xfrm>
            <a:custGeom>
              <a:rect b="b" l="l" r="r" t="t"/>
              <a:pathLst>
                <a:path extrusionOk="0" h="29532" w="76149">
                  <a:moveTo>
                    <a:pt x="62592" y="1228"/>
                  </a:moveTo>
                  <a:lnTo>
                    <a:pt x="49895" y="909"/>
                  </a:lnTo>
                  <a:lnTo>
                    <a:pt x="37198" y="590"/>
                  </a:lnTo>
                  <a:lnTo>
                    <a:pt x="24503" y="273"/>
                  </a:lnTo>
                  <a:lnTo>
                    <a:pt x="13557" y="0"/>
                  </a:lnTo>
                  <a:lnTo>
                    <a:pt x="2737" y="4867"/>
                  </a:lnTo>
                  <a:lnTo>
                    <a:pt x="0" y="15666"/>
                  </a:lnTo>
                  <a:lnTo>
                    <a:pt x="5342" y="25568"/>
                  </a:lnTo>
                  <a:lnTo>
                    <a:pt x="13557" y="28304"/>
                  </a:lnTo>
                  <a:lnTo>
                    <a:pt x="26252" y="28621"/>
                  </a:lnTo>
                  <a:lnTo>
                    <a:pt x="38947" y="28938"/>
                  </a:lnTo>
                  <a:lnTo>
                    <a:pt x="51644" y="29257"/>
                  </a:lnTo>
                  <a:lnTo>
                    <a:pt x="62592" y="29532"/>
                  </a:lnTo>
                  <a:lnTo>
                    <a:pt x="73413" y="24662"/>
                  </a:lnTo>
                  <a:lnTo>
                    <a:pt x="76149" y="13861"/>
                  </a:lnTo>
                  <a:lnTo>
                    <a:pt x="70804" y="3960"/>
                  </a:lnTo>
                  <a:lnTo>
                    <a:pt x="62592" y="122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A437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3"/>
            <p:cNvSpPr/>
            <p:nvPr/>
          </p:nvSpPr>
          <p:spPr>
            <a:xfrm>
              <a:off x="2881505" y="624854"/>
              <a:ext cx="29532" cy="76151"/>
            </a:xfrm>
            <a:custGeom>
              <a:rect b="b" l="l" r="r" t="t"/>
              <a:pathLst>
                <a:path extrusionOk="0" h="76151" w="29532">
                  <a:moveTo>
                    <a:pt x="4867" y="73413"/>
                  </a:moveTo>
                  <a:lnTo>
                    <a:pt x="15666" y="76151"/>
                  </a:lnTo>
                  <a:lnTo>
                    <a:pt x="25568" y="70808"/>
                  </a:lnTo>
                  <a:lnTo>
                    <a:pt x="28304" y="62593"/>
                  </a:lnTo>
                  <a:lnTo>
                    <a:pt x="28622" y="49896"/>
                  </a:lnTo>
                  <a:lnTo>
                    <a:pt x="28940" y="37198"/>
                  </a:lnTo>
                  <a:lnTo>
                    <a:pt x="29259" y="24502"/>
                  </a:lnTo>
                  <a:lnTo>
                    <a:pt x="29532" y="13558"/>
                  </a:lnTo>
                  <a:lnTo>
                    <a:pt x="24660" y="2736"/>
                  </a:lnTo>
                  <a:lnTo>
                    <a:pt x="13860" y="0"/>
                  </a:lnTo>
                  <a:lnTo>
                    <a:pt x="3960" y="5346"/>
                  </a:lnTo>
                  <a:lnTo>
                    <a:pt x="1228" y="13558"/>
                  </a:lnTo>
                  <a:lnTo>
                    <a:pt x="910" y="26251"/>
                  </a:lnTo>
                  <a:lnTo>
                    <a:pt x="592" y="38947"/>
                  </a:lnTo>
                  <a:lnTo>
                    <a:pt x="273" y="51645"/>
                  </a:lnTo>
                  <a:lnTo>
                    <a:pt x="0" y="62593"/>
                  </a:lnTo>
                  <a:lnTo>
                    <a:pt x="4867" y="7341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A437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3"/>
            <p:cNvSpPr/>
            <p:nvPr/>
          </p:nvSpPr>
          <p:spPr>
            <a:xfrm>
              <a:off x="2878555" y="742544"/>
              <a:ext cx="29528" cy="76152"/>
            </a:xfrm>
            <a:custGeom>
              <a:rect b="b" l="l" r="r" t="t"/>
              <a:pathLst>
                <a:path extrusionOk="0" h="76152" w="29528">
                  <a:moveTo>
                    <a:pt x="28304" y="62594"/>
                  </a:moveTo>
                  <a:lnTo>
                    <a:pt x="28621" y="49898"/>
                  </a:lnTo>
                  <a:lnTo>
                    <a:pt x="28938" y="37202"/>
                  </a:lnTo>
                  <a:lnTo>
                    <a:pt x="29255" y="24506"/>
                  </a:lnTo>
                  <a:lnTo>
                    <a:pt x="29528" y="13555"/>
                  </a:lnTo>
                  <a:lnTo>
                    <a:pt x="24661" y="2736"/>
                  </a:lnTo>
                  <a:lnTo>
                    <a:pt x="13863" y="0"/>
                  </a:lnTo>
                  <a:lnTo>
                    <a:pt x="3963" y="5344"/>
                  </a:lnTo>
                  <a:lnTo>
                    <a:pt x="1228" y="13555"/>
                  </a:lnTo>
                  <a:lnTo>
                    <a:pt x="909" y="26251"/>
                  </a:lnTo>
                  <a:lnTo>
                    <a:pt x="590" y="38947"/>
                  </a:lnTo>
                  <a:lnTo>
                    <a:pt x="273" y="51643"/>
                  </a:lnTo>
                  <a:lnTo>
                    <a:pt x="0" y="62594"/>
                  </a:lnTo>
                  <a:lnTo>
                    <a:pt x="4870" y="73415"/>
                  </a:lnTo>
                  <a:lnTo>
                    <a:pt x="15671" y="76152"/>
                  </a:lnTo>
                  <a:lnTo>
                    <a:pt x="25572" y="70806"/>
                  </a:lnTo>
                  <a:lnTo>
                    <a:pt x="28304" y="6259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A437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0" name="Google Shape;380;p43"/>
          <p:cNvSpPr/>
          <p:nvPr/>
        </p:nvSpPr>
        <p:spPr>
          <a:xfrm>
            <a:off x="3499275" y="2897966"/>
            <a:ext cx="232813" cy="232813"/>
          </a:xfrm>
          <a:custGeom>
            <a:rect b="b" l="l" r="r" t="t"/>
            <a:pathLst>
              <a:path extrusionOk="0" h="232813" w="232813">
                <a:moveTo>
                  <a:pt x="912" y="131051"/>
                </a:moveTo>
                <a:lnTo>
                  <a:pt x="3575" y="145150"/>
                </a:lnTo>
                <a:lnTo>
                  <a:pt x="7879" y="158595"/>
                </a:lnTo>
                <a:lnTo>
                  <a:pt x="13714" y="171274"/>
                </a:lnTo>
                <a:lnTo>
                  <a:pt x="20970" y="183078"/>
                </a:lnTo>
                <a:lnTo>
                  <a:pt x="20423" y="127526"/>
                </a:lnTo>
                <a:lnTo>
                  <a:pt x="19788" y="116406"/>
                </a:lnTo>
                <a:lnTo>
                  <a:pt x="20884" y="101835"/>
                </a:lnTo>
                <a:lnTo>
                  <a:pt x="24066" y="87940"/>
                </a:lnTo>
                <a:lnTo>
                  <a:pt x="29172" y="74882"/>
                </a:lnTo>
                <a:lnTo>
                  <a:pt x="36042" y="62821"/>
                </a:lnTo>
                <a:lnTo>
                  <a:pt x="44515" y="51919"/>
                </a:lnTo>
                <a:lnTo>
                  <a:pt x="54430" y="42337"/>
                </a:lnTo>
                <a:lnTo>
                  <a:pt x="65626" y="34235"/>
                </a:lnTo>
                <a:lnTo>
                  <a:pt x="77942" y="27775"/>
                </a:lnTo>
                <a:lnTo>
                  <a:pt x="91217" y="23117"/>
                </a:lnTo>
                <a:lnTo>
                  <a:pt x="105290" y="20423"/>
                </a:lnTo>
                <a:lnTo>
                  <a:pt x="116406" y="19788"/>
                </a:lnTo>
                <a:lnTo>
                  <a:pt x="130978" y="20884"/>
                </a:lnTo>
                <a:lnTo>
                  <a:pt x="144874" y="24066"/>
                </a:lnTo>
                <a:lnTo>
                  <a:pt x="157933" y="29173"/>
                </a:lnTo>
                <a:lnTo>
                  <a:pt x="169994" y="36043"/>
                </a:lnTo>
                <a:lnTo>
                  <a:pt x="180895" y="44517"/>
                </a:lnTo>
                <a:lnTo>
                  <a:pt x="190477" y="54432"/>
                </a:lnTo>
                <a:lnTo>
                  <a:pt x="198579" y="65628"/>
                </a:lnTo>
                <a:lnTo>
                  <a:pt x="205038" y="77943"/>
                </a:lnTo>
                <a:lnTo>
                  <a:pt x="209696" y="91218"/>
                </a:lnTo>
                <a:lnTo>
                  <a:pt x="212390" y="105291"/>
                </a:lnTo>
                <a:lnTo>
                  <a:pt x="213025" y="116406"/>
                </a:lnTo>
                <a:lnTo>
                  <a:pt x="211929" y="130978"/>
                </a:lnTo>
                <a:lnTo>
                  <a:pt x="208747" y="144874"/>
                </a:lnTo>
                <a:lnTo>
                  <a:pt x="203641" y="157933"/>
                </a:lnTo>
                <a:lnTo>
                  <a:pt x="196771" y="169994"/>
                </a:lnTo>
                <a:lnTo>
                  <a:pt x="188298" y="180896"/>
                </a:lnTo>
                <a:lnTo>
                  <a:pt x="178384" y="190479"/>
                </a:lnTo>
                <a:lnTo>
                  <a:pt x="167189" y="198581"/>
                </a:lnTo>
                <a:lnTo>
                  <a:pt x="154873" y="205041"/>
                </a:lnTo>
                <a:lnTo>
                  <a:pt x="141599" y="209699"/>
                </a:lnTo>
                <a:lnTo>
                  <a:pt x="127525" y="212393"/>
                </a:lnTo>
                <a:lnTo>
                  <a:pt x="116406" y="213029"/>
                </a:lnTo>
                <a:lnTo>
                  <a:pt x="101835" y="211933"/>
                </a:lnTo>
                <a:lnTo>
                  <a:pt x="87939" y="208751"/>
                </a:lnTo>
                <a:lnTo>
                  <a:pt x="74881" y="203644"/>
                </a:lnTo>
                <a:lnTo>
                  <a:pt x="62820" y="196774"/>
                </a:lnTo>
                <a:lnTo>
                  <a:pt x="51918" y="188301"/>
                </a:lnTo>
                <a:lnTo>
                  <a:pt x="42336" y="178386"/>
                </a:lnTo>
                <a:lnTo>
                  <a:pt x="34235" y="167190"/>
                </a:lnTo>
                <a:lnTo>
                  <a:pt x="27775" y="154874"/>
                </a:lnTo>
                <a:lnTo>
                  <a:pt x="29537" y="193897"/>
                </a:lnTo>
                <a:lnTo>
                  <a:pt x="39305" y="203622"/>
                </a:lnTo>
                <a:lnTo>
                  <a:pt x="50163" y="212141"/>
                </a:lnTo>
                <a:lnTo>
                  <a:pt x="62002" y="219345"/>
                </a:lnTo>
                <a:lnTo>
                  <a:pt x="74712" y="225124"/>
                </a:lnTo>
                <a:lnTo>
                  <a:pt x="88182" y="229368"/>
                </a:lnTo>
                <a:lnTo>
                  <a:pt x="102303" y="231968"/>
                </a:lnTo>
                <a:lnTo>
                  <a:pt x="116406" y="232813"/>
                </a:lnTo>
                <a:lnTo>
                  <a:pt x="131049" y="231901"/>
                </a:lnTo>
                <a:lnTo>
                  <a:pt x="145148" y="229238"/>
                </a:lnTo>
                <a:lnTo>
                  <a:pt x="158591" y="224935"/>
                </a:lnTo>
                <a:lnTo>
                  <a:pt x="171270" y="219100"/>
                </a:lnTo>
                <a:lnTo>
                  <a:pt x="183075" y="211845"/>
                </a:lnTo>
                <a:lnTo>
                  <a:pt x="193894" y="203278"/>
                </a:lnTo>
                <a:lnTo>
                  <a:pt x="203619" y="193511"/>
                </a:lnTo>
                <a:lnTo>
                  <a:pt x="212138" y="182653"/>
                </a:lnTo>
                <a:lnTo>
                  <a:pt x="219343" y="170814"/>
                </a:lnTo>
                <a:lnTo>
                  <a:pt x="225123" y="158104"/>
                </a:lnTo>
                <a:lnTo>
                  <a:pt x="229368" y="144633"/>
                </a:lnTo>
                <a:lnTo>
                  <a:pt x="231967" y="130511"/>
                </a:lnTo>
                <a:lnTo>
                  <a:pt x="232813" y="116406"/>
                </a:lnTo>
                <a:lnTo>
                  <a:pt x="231901" y="101763"/>
                </a:lnTo>
                <a:lnTo>
                  <a:pt x="229238" y="87664"/>
                </a:lnTo>
                <a:lnTo>
                  <a:pt x="224933" y="74220"/>
                </a:lnTo>
                <a:lnTo>
                  <a:pt x="219098" y="61541"/>
                </a:lnTo>
                <a:lnTo>
                  <a:pt x="211842" y="49736"/>
                </a:lnTo>
                <a:lnTo>
                  <a:pt x="203275" y="38917"/>
                </a:lnTo>
                <a:lnTo>
                  <a:pt x="193508" y="29193"/>
                </a:lnTo>
                <a:lnTo>
                  <a:pt x="182649" y="20673"/>
                </a:lnTo>
                <a:lnTo>
                  <a:pt x="170810" y="13469"/>
                </a:lnTo>
                <a:lnTo>
                  <a:pt x="158101" y="7689"/>
                </a:lnTo>
                <a:lnTo>
                  <a:pt x="144630" y="3445"/>
                </a:lnTo>
                <a:lnTo>
                  <a:pt x="130510" y="845"/>
                </a:lnTo>
                <a:lnTo>
                  <a:pt x="116406" y="0"/>
                </a:lnTo>
                <a:lnTo>
                  <a:pt x="101763" y="912"/>
                </a:lnTo>
                <a:lnTo>
                  <a:pt x="87665" y="3575"/>
                </a:lnTo>
                <a:lnTo>
                  <a:pt x="74221" y="7879"/>
                </a:lnTo>
                <a:lnTo>
                  <a:pt x="61542" y="13714"/>
                </a:lnTo>
                <a:lnTo>
                  <a:pt x="49738" y="20969"/>
                </a:lnTo>
                <a:lnTo>
                  <a:pt x="38919" y="29536"/>
                </a:lnTo>
                <a:lnTo>
                  <a:pt x="29194" y="39303"/>
                </a:lnTo>
                <a:lnTo>
                  <a:pt x="20674" y="50162"/>
                </a:lnTo>
                <a:lnTo>
                  <a:pt x="13469" y="62001"/>
                </a:lnTo>
                <a:lnTo>
                  <a:pt x="7690" y="74710"/>
                </a:lnTo>
                <a:lnTo>
                  <a:pt x="3445" y="88181"/>
                </a:lnTo>
                <a:lnTo>
                  <a:pt x="845" y="102302"/>
                </a:lnTo>
                <a:lnTo>
                  <a:pt x="0" y="116406"/>
                </a:lnTo>
                <a:lnTo>
                  <a:pt x="912" y="13105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A43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3"/>
          <p:cNvSpPr/>
          <p:nvPr/>
        </p:nvSpPr>
        <p:spPr>
          <a:xfrm rot="10800000">
            <a:off x="5184400" y="4852800"/>
            <a:ext cx="3067800" cy="2729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4"/>
          <p:cNvSpPr txBox="1"/>
          <p:nvPr/>
        </p:nvSpPr>
        <p:spPr>
          <a:xfrm>
            <a:off x="3073600" y="2656500"/>
            <a:ext cx="72894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¡Muchas Gracias!</a:t>
            </a:r>
            <a:endParaRPr sz="6000">
              <a:solidFill>
                <a:srgbClr val="FFFFFF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Nos vemos en la próxima clase 👋🏻</a:t>
            </a:r>
            <a:endParaRPr sz="1600">
              <a:solidFill>
                <a:srgbClr val="FFFFFF"/>
              </a:solidFill>
              <a:latin typeface="Muli"/>
              <a:ea typeface="Muli"/>
              <a:cs typeface="Muli"/>
              <a:sym typeface="Muli"/>
            </a:endParaRPr>
          </a:p>
        </p:txBody>
      </p:sp>
      <p:pic>
        <p:nvPicPr>
          <p:cNvPr id="387" name="Google Shape;38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1325" y="4179075"/>
            <a:ext cx="1093951" cy="10117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