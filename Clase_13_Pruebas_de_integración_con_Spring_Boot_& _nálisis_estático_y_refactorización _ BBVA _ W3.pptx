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7581900" cx="13436600"/>
  <p:notesSz cx="13436600" cy="75819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3F393D-9B5B-4464-B586-0BF855FFCAC7}">
  <a:tblStyle styleId="{E53F393D-9B5B-4464-B586-0BF855FFCAC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Tahoma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Tahom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343650" y="3601400"/>
            <a:ext cx="10749275" cy="3411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2b66b3cf1_0_11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e2b66b3cf1_0_11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ecbfc0dc4_0_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ecbfc0dc4_0_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ecbfc0dc4_0_6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ecbfc0dc4_0_6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2b66b3cf1_0_9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e2b66b3cf1_0_9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e2b66b3cf1_0_128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e2b66b3cf1_0_128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2b66b3cf1_0_157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2b66b3cf1_0_157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e2b66b3cf1_0_154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e2b66b3cf1_0_154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24777cb4b_0_16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24777cb4b_0_16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24777cb4b_0_23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24777cb4b_0_23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6cbc6cbb9_1_2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6cbc6cbb9_1_2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6cbc6cbb9_1_44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6cbc6cbb9_1_44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6cbc6cbb9_1_38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6cbc6cbb9_1_38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92e5d7168_1_5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92e5d7168_1_5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6cbc6cbb9_1_32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6cbc6cbb9_1_32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24777cb4b_0_33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24777cb4b_0_33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2042b3a72_0_14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2042b3a72_0_14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24777cb4b_0_53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24777cb4b_0_53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92e5d7168_1_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92e5d7168_1_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2b66b3cf1_0_197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e2b66b3cf1_0_197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e2b66b3cf1_0_26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e2b66b3cf1_0_26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e2b66b3cf1_0_269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e2b66b3cf1_0_269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e2b66b3cf1_0_278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e2b66b3cf1_0_278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Nota: </a:t>
            </a:r>
            <a:r>
              <a:rPr lang="en-US">
                <a:solidFill>
                  <a:schemeClr val="dk1"/>
                </a:solidFill>
              </a:rPr>
              <a:t>slide para incluir la ejercitación de la clase (práctica o teórica).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6cbc6cbb9_1_71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56cbc6cbb9_1_71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Nota: </a:t>
            </a:r>
            <a:r>
              <a:rPr lang="en-US">
                <a:solidFill>
                  <a:schemeClr val="dk1"/>
                </a:solidFill>
              </a:rPr>
              <a:t>slide para incluir la ejercitación de la clase (práctica o teórica).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6cbc6cbb9_1_80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56cbc6cbb9_1_80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Nota: </a:t>
            </a:r>
            <a:r>
              <a:rPr lang="en-US">
                <a:solidFill>
                  <a:schemeClr val="dk1"/>
                </a:solidFill>
              </a:rPr>
              <a:t>slide para incluir la ejercitación de la clase (práctica o teórica).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e2b66b3cf1_0_289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e2b66b3cf1_0_289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01aa8c7c0_0_273:notes"/>
          <p:cNvSpPr/>
          <p:nvPr>
            <p:ph idx="2" type="sldImg"/>
          </p:nvPr>
        </p:nvSpPr>
        <p:spPr>
          <a:xfrm>
            <a:off x="765821" y="568642"/>
            <a:ext cx="119061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01aa8c7c0_0_273:notes"/>
          <p:cNvSpPr txBox="1"/>
          <p:nvPr>
            <p:ph idx="1" type="body"/>
          </p:nvPr>
        </p:nvSpPr>
        <p:spPr>
          <a:xfrm>
            <a:off x="1343660" y="3601403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e2b66b3cf1_0_317:notes"/>
          <p:cNvSpPr/>
          <p:nvPr>
            <p:ph idx="2" type="sldImg"/>
          </p:nvPr>
        </p:nvSpPr>
        <p:spPr>
          <a:xfrm>
            <a:off x="2239875" y="568625"/>
            <a:ext cx="8958300" cy="284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e2b66b3cf1_0_317:notes"/>
          <p:cNvSpPr txBox="1"/>
          <p:nvPr>
            <p:ph idx="1" type="body"/>
          </p:nvPr>
        </p:nvSpPr>
        <p:spPr>
          <a:xfrm>
            <a:off x="1343650" y="3601400"/>
            <a:ext cx="10749300" cy="3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899426" y="678423"/>
            <a:ext cx="3637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00">
                <a:solidFill>
                  <a:srgbClr val="5EBE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899426" y="678423"/>
            <a:ext cx="3637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00">
                <a:solidFill>
                  <a:srgbClr val="5EBE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584112" y="1469383"/>
            <a:ext cx="122685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007745" y="2350389"/>
            <a:ext cx="11421000" cy="15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2015490" y="4245864"/>
            <a:ext cx="9405600" cy="18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899426" y="678423"/>
            <a:ext cx="3637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00">
                <a:solidFill>
                  <a:srgbClr val="5EBE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71830" y="1743837"/>
            <a:ext cx="5844900" cy="5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919849" y="1743837"/>
            <a:ext cx="5844900" cy="5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458026" y="656000"/>
            <a:ext cx="125205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458026" y="1698834"/>
            <a:ext cx="12520500" cy="50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2449806" y="6873927"/>
            <a:ext cx="80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12449806" y="6873927"/>
            <a:ext cx="80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>
  <p:cSld name="whit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99426" y="678423"/>
            <a:ext cx="3637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900" u="none" cap="none" strike="noStrike">
                <a:solidFill>
                  <a:srgbClr val="5EBEE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4112" y="1469383"/>
            <a:ext cx="12268500" cy="21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568444" y="7051167"/>
            <a:ext cx="4299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71830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674352" y="7051167"/>
            <a:ext cx="3090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>
            <a:off x="3315551" y="2536200"/>
            <a:ext cx="68055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Recibe una cálida:</a:t>
            </a:r>
            <a:endParaRPr sz="24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¡Bienvenida!</a:t>
            </a:r>
            <a:endParaRPr sz="65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Te estábamos esperando 😁</a:t>
            </a:r>
            <a:endParaRPr sz="24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51" name="Google Shape;51;p10"/>
          <p:cNvCxnSpPr/>
          <p:nvPr/>
        </p:nvCxnSpPr>
        <p:spPr>
          <a:xfrm>
            <a:off x="5417338" y="6476800"/>
            <a:ext cx="260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10"/>
          <p:cNvPicPr preferRelativeResize="0"/>
          <p:nvPr/>
        </p:nvPicPr>
        <p:blipFill rotWithShape="1">
          <a:blip r:embed="rId4">
            <a:alphaModFix/>
          </a:blip>
          <a:srcRect b="50150" l="0" r="35947" t="3056"/>
          <a:stretch/>
        </p:blipFill>
        <p:spPr>
          <a:xfrm>
            <a:off x="5669125" y="5692125"/>
            <a:ext cx="2098325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/>
          <p:nvPr/>
        </p:nvSpPr>
        <p:spPr>
          <a:xfrm>
            <a:off x="914400" y="685075"/>
            <a:ext cx="194400" cy="194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/>
        </p:nvSpPr>
        <p:spPr>
          <a:xfrm>
            <a:off x="1122825" y="605275"/>
            <a:ext cx="158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Clase grabada</a:t>
            </a:r>
            <a:endParaRPr sz="11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/>
        </p:nvSpPr>
        <p:spPr>
          <a:xfrm>
            <a:off x="1486375" y="2775150"/>
            <a:ext cx="10724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CLASE 13.</a:t>
            </a:r>
            <a:endParaRPr sz="60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Pruebas de Integración con Spring Boot &amp; Análisis Estático y Refactorización</a:t>
            </a:r>
            <a:endParaRPr sz="44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60" name="Google Shape;60;p11"/>
          <p:cNvCxnSpPr/>
          <p:nvPr/>
        </p:nvCxnSpPr>
        <p:spPr>
          <a:xfrm flipH="1" rot="10800000">
            <a:off x="1367500" y="2749950"/>
            <a:ext cx="1800" cy="25131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1"/>
          <p:cNvSpPr txBox="1"/>
          <p:nvPr/>
        </p:nvSpPr>
        <p:spPr>
          <a:xfrm>
            <a:off x="1367500" y="2097738"/>
            <a:ext cx="627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Java Nivel 2 | BBVA</a:t>
            </a:r>
            <a:endParaRPr sz="16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/>
        </p:nvSpPr>
        <p:spPr>
          <a:xfrm>
            <a:off x="861950" y="612700"/>
            <a:ext cx="463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HOJA DE RUTA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861950" y="1259200"/>
            <a:ext cx="378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¿Cuáles </a:t>
            </a:r>
            <a:r>
              <a:rPr b="1"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skills </a:t>
            </a:r>
            <a:r>
              <a:rPr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conforman el programa?</a:t>
            </a:r>
            <a:endParaRPr sz="13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68" name="Google Shape;68;p12"/>
          <p:cNvCxnSpPr/>
          <p:nvPr/>
        </p:nvCxnSpPr>
        <p:spPr>
          <a:xfrm rot="10800000">
            <a:off x="762500" y="808525"/>
            <a:ext cx="0" cy="7605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2"/>
          <p:cNvSpPr/>
          <p:nvPr/>
        </p:nvSpPr>
        <p:spPr>
          <a:xfrm>
            <a:off x="4102241" y="3314883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APIs y Microservicios en Java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70" name="Google Shape;70;p12"/>
          <p:cNvGrpSpPr/>
          <p:nvPr/>
        </p:nvGrpSpPr>
        <p:grpSpPr>
          <a:xfrm>
            <a:off x="4102234" y="1706713"/>
            <a:ext cx="800400" cy="800400"/>
            <a:chOff x="3521700" y="2434800"/>
            <a:chExt cx="800400" cy="800400"/>
          </a:xfrm>
        </p:grpSpPr>
        <p:sp>
          <p:nvSpPr>
            <p:cNvPr id="71" name="Google Shape;71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72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2.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sp>
        <p:nvSpPr>
          <p:cNvPr id="73" name="Google Shape;73;p12"/>
          <p:cNvSpPr/>
          <p:nvPr/>
        </p:nvSpPr>
        <p:spPr>
          <a:xfrm>
            <a:off x="6975753" y="3314883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Manejo avanzado de bases de datos (NoSQL)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74" name="Google Shape;74;p12"/>
          <p:cNvGrpSpPr/>
          <p:nvPr/>
        </p:nvGrpSpPr>
        <p:grpSpPr>
          <a:xfrm>
            <a:off x="6975750" y="1644088"/>
            <a:ext cx="800400" cy="800400"/>
            <a:chOff x="3521700" y="2434800"/>
            <a:chExt cx="800400" cy="800400"/>
          </a:xfrm>
        </p:grpSpPr>
        <p:sp>
          <p:nvSpPr>
            <p:cNvPr id="75" name="Google Shape;75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3.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sp>
        <p:nvSpPr>
          <p:cNvPr id="77" name="Google Shape;77;p12"/>
          <p:cNvSpPr/>
          <p:nvPr/>
        </p:nvSpPr>
        <p:spPr>
          <a:xfrm>
            <a:off x="1228750" y="3314883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Entorno avanzado de desarrollo Java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78" name="Google Shape;78;p12"/>
          <p:cNvGrpSpPr/>
          <p:nvPr/>
        </p:nvGrpSpPr>
        <p:grpSpPr>
          <a:xfrm>
            <a:off x="1228750" y="1738875"/>
            <a:ext cx="800400" cy="800400"/>
            <a:chOff x="3521700" y="2434800"/>
            <a:chExt cx="800400" cy="800400"/>
          </a:xfrm>
        </p:grpSpPr>
        <p:sp>
          <p:nvSpPr>
            <p:cNvPr id="79" name="Google Shape;79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1.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81" name="Google Shape;81;p12"/>
          <p:cNvCxnSpPr>
            <a:stCxn id="80" idx="2"/>
          </p:cNvCxnSpPr>
          <p:nvPr/>
        </p:nvCxnSpPr>
        <p:spPr>
          <a:xfrm>
            <a:off x="1628950" y="2539275"/>
            <a:ext cx="0" cy="8415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2"/>
          <p:cNvCxnSpPr>
            <a:stCxn id="72" idx="2"/>
          </p:cNvCxnSpPr>
          <p:nvPr/>
        </p:nvCxnSpPr>
        <p:spPr>
          <a:xfrm>
            <a:off x="4502434" y="2507113"/>
            <a:ext cx="0" cy="8664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2"/>
          <p:cNvCxnSpPr>
            <a:stCxn id="77" idx="3"/>
            <a:endCxn id="71" idx="2"/>
          </p:cNvCxnSpPr>
          <p:nvPr/>
        </p:nvCxnSpPr>
        <p:spPr>
          <a:xfrm flipH="1" rot="10800000">
            <a:off x="3587350" y="2106933"/>
            <a:ext cx="514800" cy="15111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4" name="Google Shape;84;p12"/>
          <p:cNvCxnSpPr>
            <a:stCxn id="69" idx="3"/>
            <a:endCxn id="75" idx="2"/>
          </p:cNvCxnSpPr>
          <p:nvPr/>
        </p:nvCxnSpPr>
        <p:spPr>
          <a:xfrm flipH="1" rot="10800000">
            <a:off x="6460841" y="2044233"/>
            <a:ext cx="514800" cy="15738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5" name="Google Shape;85;p12"/>
          <p:cNvCxnSpPr>
            <a:stCxn id="76" idx="2"/>
          </p:cNvCxnSpPr>
          <p:nvPr/>
        </p:nvCxnSpPr>
        <p:spPr>
          <a:xfrm>
            <a:off x="7375950" y="2444488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2"/>
          <p:cNvSpPr txBox="1"/>
          <p:nvPr/>
        </p:nvSpPr>
        <p:spPr>
          <a:xfrm>
            <a:off x="1628950" y="2726975"/>
            <a:ext cx="10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Start!🏁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4502425" y="2710900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7375937" y="2759913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9849250" y="3314900"/>
            <a:ext cx="24963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Programación concurrente y rendimiento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90" name="Google Shape;90;p12"/>
          <p:cNvGrpSpPr/>
          <p:nvPr/>
        </p:nvGrpSpPr>
        <p:grpSpPr>
          <a:xfrm>
            <a:off x="9849250" y="1644100"/>
            <a:ext cx="800400" cy="800400"/>
            <a:chOff x="3521700" y="2434800"/>
            <a:chExt cx="800400" cy="800400"/>
          </a:xfrm>
        </p:grpSpPr>
        <p:sp>
          <p:nvSpPr>
            <p:cNvPr id="91" name="Google Shape;91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4.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93" name="Google Shape;93;p12"/>
          <p:cNvCxnSpPr>
            <a:stCxn id="73" idx="3"/>
            <a:endCxn id="91" idx="2"/>
          </p:cNvCxnSpPr>
          <p:nvPr/>
        </p:nvCxnSpPr>
        <p:spPr>
          <a:xfrm flipH="1" rot="10800000">
            <a:off x="9334353" y="2044233"/>
            <a:ext cx="514800" cy="15738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4" name="Google Shape;94;p12"/>
          <p:cNvCxnSpPr>
            <a:stCxn id="92" idx="2"/>
          </p:cNvCxnSpPr>
          <p:nvPr/>
        </p:nvCxnSpPr>
        <p:spPr>
          <a:xfrm>
            <a:off x="10249450" y="2444500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2"/>
          <p:cNvSpPr txBox="1"/>
          <p:nvPr/>
        </p:nvSpPr>
        <p:spPr>
          <a:xfrm>
            <a:off x="10249425" y="2759925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8982150" y="5968575"/>
            <a:ext cx="27714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Virtualización y despliegue en entornos empresariales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97" name="Google Shape;97;p12"/>
          <p:cNvGrpSpPr/>
          <p:nvPr/>
        </p:nvGrpSpPr>
        <p:grpSpPr>
          <a:xfrm>
            <a:off x="8982150" y="4297775"/>
            <a:ext cx="800400" cy="800400"/>
            <a:chOff x="3521700" y="2434800"/>
            <a:chExt cx="800400" cy="800400"/>
          </a:xfrm>
        </p:grpSpPr>
        <p:sp>
          <p:nvSpPr>
            <p:cNvPr id="98" name="Google Shape;98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5.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100" name="Google Shape;100;p12"/>
          <p:cNvCxnSpPr>
            <a:stCxn id="99" idx="2"/>
          </p:cNvCxnSpPr>
          <p:nvPr/>
        </p:nvCxnSpPr>
        <p:spPr>
          <a:xfrm>
            <a:off x="9382350" y="5098175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2"/>
          <p:cNvSpPr txBox="1"/>
          <p:nvPr/>
        </p:nvSpPr>
        <p:spPr>
          <a:xfrm>
            <a:off x="9382200" y="5350425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02" name="Google Shape;102;p12"/>
          <p:cNvCxnSpPr>
            <a:stCxn id="89" idx="2"/>
            <a:endCxn id="98" idx="6"/>
          </p:cNvCxnSpPr>
          <p:nvPr/>
        </p:nvCxnSpPr>
        <p:spPr>
          <a:xfrm rot="5400000">
            <a:off x="10051600" y="3652100"/>
            <a:ext cx="776700" cy="1314900"/>
          </a:xfrm>
          <a:prstGeom prst="bentConnector2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3" name="Google Shape;103;p12"/>
          <p:cNvSpPr/>
          <p:nvPr/>
        </p:nvSpPr>
        <p:spPr>
          <a:xfrm>
            <a:off x="5410203" y="5968570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4A72B2"/>
          </a:solidFill>
          <a:ln cap="flat" cmpd="sng" w="19050">
            <a:solidFill>
              <a:srgbClr val="0A468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Pruebas avanzadas y calidad de código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104" name="Google Shape;104;p12"/>
          <p:cNvGrpSpPr/>
          <p:nvPr/>
        </p:nvGrpSpPr>
        <p:grpSpPr>
          <a:xfrm>
            <a:off x="5410200" y="4297775"/>
            <a:ext cx="800400" cy="800400"/>
            <a:chOff x="3521700" y="2434800"/>
            <a:chExt cx="800400" cy="800400"/>
          </a:xfrm>
        </p:grpSpPr>
        <p:sp>
          <p:nvSpPr>
            <p:cNvPr id="105" name="Google Shape;105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6.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107" name="Google Shape;107;p12"/>
          <p:cNvCxnSpPr>
            <a:stCxn id="106" idx="2"/>
          </p:cNvCxnSpPr>
          <p:nvPr/>
        </p:nvCxnSpPr>
        <p:spPr>
          <a:xfrm>
            <a:off x="5810400" y="5098175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2"/>
          <p:cNvSpPr txBox="1"/>
          <p:nvPr/>
        </p:nvSpPr>
        <p:spPr>
          <a:xfrm>
            <a:off x="5802725" y="5284725"/>
            <a:ext cx="1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Level Up!🚀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09" name="Google Shape;109;p12"/>
          <p:cNvCxnSpPr>
            <a:stCxn id="96" idx="1"/>
            <a:endCxn id="105" idx="6"/>
          </p:cNvCxnSpPr>
          <p:nvPr/>
        </p:nvCxnSpPr>
        <p:spPr>
          <a:xfrm rot="10800000">
            <a:off x="6210450" y="4697925"/>
            <a:ext cx="2771700" cy="1573800"/>
          </a:xfrm>
          <a:prstGeom prst="bentConnector3">
            <a:avLst>
              <a:gd fmla="val 26038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0" name="Google Shape;110;p12"/>
          <p:cNvSpPr/>
          <p:nvPr/>
        </p:nvSpPr>
        <p:spPr>
          <a:xfrm>
            <a:off x="1838253" y="5982620"/>
            <a:ext cx="2358600" cy="606300"/>
          </a:xfrm>
          <a:prstGeom prst="roundRect">
            <a:avLst>
              <a:gd fmla="val 16667" name="adj"/>
            </a:avLst>
          </a:prstGeom>
          <a:solidFill>
            <a:srgbClr val="0A46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Seguridad en aplicaciones Java</a:t>
            </a:r>
            <a:endParaRPr b="1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111" name="Google Shape;111;p12"/>
          <p:cNvGrpSpPr/>
          <p:nvPr/>
        </p:nvGrpSpPr>
        <p:grpSpPr>
          <a:xfrm>
            <a:off x="1838250" y="4311825"/>
            <a:ext cx="800400" cy="800400"/>
            <a:chOff x="3521700" y="2434800"/>
            <a:chExt cx="800400" cy="800400"/>
          </a:xfrm>
        </p:grpSpPr>
        <p:sp>
          <p:nvSpPr>
            <p:cNvPr id="112" name="Google Shape;112;p12"/>
            <p:cNvSpPr/>
            <p:nvPr/>
          </p:nvSpPr>
          <p:spPr>
            <a:xfrm>
              <a:off x="3521700" y="2434800"/>
              <a:ext cx="800400" cy="80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2"/>
            <p:cNvSpPr txBox="1"/>
            <p:nvPr/>
          </p:nvSpPr>
          <p:spPr>
            <a:xfrm>
              <a:off x="3598500" y="2434800"/>
              <a:ext cx="64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Muli"/>
                  <a:ea typeface="Muli"/>
                  <a:cs typeface="Muli"/>
                  <a:sym typeface="Muli"/>
                </a:rPr>
                <a:t>7.</a:t>
              </a:r>
              <a:endParaRPr sz="4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cxnSp>
        <p:nvCxnSpPr>
          <p:cNvPr id="114" name="Google Shape;114;p12"/>
          <p:cNvCxnSpPr>
            <a:stCxn id="113" idx="2"/>
          </p:cNvCxnSpPr>
          <p:nvPr/>
        </p:nvCxnSpPr>
        <p:spPr>
          <a:xfrm>
            <a:off x="2238450" y="5112225"/>
            <a:ext cx="0" cy="876600"/>
          </a:xfrm>
          <a:prstGeom prst="straightConnector1">
            <a:avLst/>
          </a:prstGeom>
          <a:noFill/>
          <a:ln cap="flat" cmpd="sng" w="9525">
            <a:solidFill>
              <a:srgbClr val="0A46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2"/>
          <p:cNvCxnSpPr>
            <a:endCxn id="112" idx="6"/>
          </p:cNvCxnSpPr>
          <p:nvPr/>
        </p:nvCxnSpPr>
        <p:spPr>
          <a:xfrm rot="10800000">
            <a:off x="2638650" y="4712025"/>
            <a:ext cx="2771700" cy="1573800"/>
          </a:xfrm>
          <a:prstGeom prst="bentConnector3">
            <a:avLst>
              <a:gd fmla="val 19681" name="adj1"/>
            </a:avLst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6" name="Google Shape;116;p12"/>
          <p:cNvSpPr txBox="1"/>
          <p:nvPr/>
        </p:nvSpPr>
        <p:spPr>
          <a:xfrm>
            <a:off x="2257139" y="5284725"/>
            <a:ext cx="133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uli"/>
                <a:ea typeface="Muli"/>
                <a:cs typeface="Muli"/>
                <a:sym typeface="Muli"/>
              </a:rPr>
              <a:t>Landing!🥇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OBJETIVOS DE APRENDIZAJE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861950" y="1259200"/>
            <a:ext cx="378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¿Qué vas a aprender hoy?</a:t>
            </a:r>
            <a:endParaRPr sz="13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23" name="Google Shape;123;p13"/>
          <p:cNvCxnSpPr/>
          <p:nvPr/>
        </p:nvCxnSpPr>
        <p:spPr>
          <a:xfrm rot="10800000">
            <a:off x="762500" y="808525"/>
            <a:ext cx="0" cy="7605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/>
        </p:nvSpPr>
        <p:spPr>
          <a:xfrm>
            <a:off x="3011925" y="2511625"/>
            <a:ext cx="57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pruebas de integración con Spring Boot.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2578175" y="2500813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3011925" y="3180975"/>
            <a:ext cx="784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Probar controladores, servicios y repositorios con Testcontainers.</a:t>
            </a:r>
            <a:endParaRPr sz="29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2578175" y="3878183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3011925" y="3855100"/>
            <a:ext cx="750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Usar SonarQube para analizar y mejorar la calidad del código.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578175" y="4566869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2578175" y="3189498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3011925" y="4577675"/>
            <a:ext cx="67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Aplicar refactorizaciones guiadas por análisis estático.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REPASO CLASE ANTERIOR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61950" y="1259200"/>
            <a:ext cx="520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Clase N°12: Automatización de despliegues (CI/CD)</a:t>
            </a:r>
            <a:endParaRPr sz="13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38" name="Google Shape;138;p14"/>
          <p:cNvCxnSpPr/>
          <p:nvPr/>
        </p:nvCxnSpPr>
        <p:spPr>
          <a:xfrm rot="10800000">
            <a:off x="762500" y="808525"/>
            <a:ext cx="0" cy="7605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14"/>
          <p:cNvSpPr txBox="1"/>
          <p:nvPr/>
        </p:nvSpPr>
        <p:spPr>
          <a:xfrm>
            <a:off x="1779400" y="2505750"/>
            <a:ext cx="100296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En la clase anterior trabajamos 📚: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Comprendimos los conceptos de Integración Continua (CI) y Despliegue Continuo (CD) y su rol en DevOps.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Conocimos herramientas clave como GitHub Actions.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spcBef>
                <a:spcPts val="1000"/>
              </a:spcBef>
              <a:spcAft>
                <a:spcPts val="100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Creamos un pipeline declarativo en GitHub Actions para compilar, testear y desplegar una aplicación Java.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1392100" y="3008250"/>
            <a:ext cx="932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Pruebas Avanzadas</a:t>
            </a:r>
            <a:endParaRPr b="1" sz="6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762500" y="3305238"/>
            <a:ext cx="332100" cy="5142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/>
        </p:nvSpPr>
        <p:spPr>
          <a:xfrm>
            <a:off x="861950" y="3190650"/>
            <a:ext cx="7571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🧠 Verifican si los componentes colaboran correctamente.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📦 Usan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@SpringBootTest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para levantar el contexto completo.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🎯 Simulan el flujo real de la aplicación (servicio + repositorio).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861950" y="612700"/>
            <a:ext cx="1205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¿QUÉ SON LAS PRUEBAS DE INTEGRACIÓN?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52" name="Google Shape;152;p16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861950" y="2482650"/>
            <a:ext cx="92301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🔍 ¿Qué hace @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SpringBootTest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?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📦 Carga TODO el contexto de Spring Boot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➡️ Permite probar varias capas al mismo tiempo: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Controladores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Servicios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Repositorios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💡 Ideal para pruebas que simulan el comportamiento real de la app.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861950" y="612700"/>
            <a:ext cx="1205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¿QUÉ SON LAS PRUEBAS DE INTEGRACIÓN?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59" name="Google Shape;159;p17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/>
        </p:nvSpPr>
        <p:spPr>
          <a:xfrm>
            <a:off x="861950" y="2351700"/>
            <a:ext cx="92301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@SpringBootTest</a:t>
            </a:r>
            <a:endParaRPr sz="2000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UsuarioServiceIT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 @Autowired 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UsuarioService usuarioService;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  @Test</a:t>
            </a:r>
            <a:endParaRPr sz="2000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  void </a:t>
            </a:r>
            <a:r>
              <a:rPr lang="en-US" sz="2000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debeGuardarUsuario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 Usuario u 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 new </a:t>
            </a:r>
            <a:r>
              <a:rPr lang="en-US" sz="2000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Usuario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"caro@example.com"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assertNotNull(usuarioService.save(u).getId());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861950" y="612700"/>
            <a:ext cx="1205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EJEMPLO DE PRUEBA DE INTEGRACIÓN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66" name="Google Shape;166;p18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8"/>
          <p:cNvSpPr txBox="1"/>
          <p:nvPr/>
        </p:nvSpPr>
        <p:spPr>
          <a:xfrm>
            <a:off x="861950" y="1551300"/>
            <a:ext cx="5194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uli"/>
                <a:ea typeface="Muli"/>
                <a:cs typeface="Muli"/>
                <a:sym typeface="Muli"/>
              </a:rPr>
              <a:t>📘 Este test prueba todo el recorrido:</a:t>
            </a:r>
            <a:endParaRPr sz="2000"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uli"/>
                <a:ea typeface="Muli"/>
                <a:cs typeface="Muli"/>
                <a:sym typeface="Muli"/>
              </a:rPr>
              <a:t>creación → guardado → verificación.</a:t>
            </a:r>
            <a:endParaRPr sz="2000"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TIPOS DE TESTS EN SPRING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73" name="Google Shape;173;p19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4" name="Google Shape;174;p19"/>
          <p:cNvGraphicFramePr/>
          <p:nvPr/>
        </p:nvGraphicFramePr>
        <p:xfrm>
          <a:off x="373675" y="2395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{E53F393D-9B5B-4464-B586-0BF855FFCAC7}</a:tableStyleId>
              </a:tblPr>
              <a:tblGrid>
                <a:gridCol w="2643025"/>
                <a:gridCol w="4742650"/>
                <a:gridCol w="53035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Tipo de test</a:t>
                      </a:r>
                      <a:endParaRPr b="1" sz="2000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¿Qué cubre?</a:t>
                      </a:r>
                      <a:endParaRPr b="1" sz="2000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6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¿Cuándo usarlo?</a:t>
                      </a:r>
                      <a:endParaRPr b="1" sz="2000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68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@Test</a:t>
                      </a: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 (unitario)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Lógica interna del método/clase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Validar funciones puras, sin dependencias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@DataMongoTest</a:t>
                      </a:r>
                      <a:endParaRPr sz="2000">
                        <a:solidFill>
                          <a:srgbClr val="188038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Repositorios con MongoDB real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Probar consultas y persistencia aislada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@WebMvcTest</a:t>
                      </a:r>
                      <a:endParaRPr sz="2000">
                        <a:solidFill>
                          <a:srgbClr val="188038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Controladores (sin servicios/repositorios)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Testear rutas y respuestas HTTP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@SpringBootTest</a:t>
                      </a:r>
                      <a:endParaRPr sz="2000">
                        <a:solidFill>
                          <a:srgbClr val="188038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Toda la aplicación (end-to-end)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uli"/>
                          <a:ea typeface="Muli"/>
                          <a:cs typeface="Muli"/>
                          <a:sym typeface="Muli"/>
                        </a:rPr>
                        <a:t>Validar integración completa</a:t>
                      </a:r>
                      <a:endParaRPr sz="2000"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861950" y="2159400"/>
            <a:ext cx="80385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SpringBootTest</a:t>
            </a:r>
            <a:endParaRPr sz="2000">
              <a:solidFill>
                <a:srgbClr val="4EC9B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UsuarioServiceIT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@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Autowired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UsuarioService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usuarioService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@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endParaRPr sz="2000">
              <a:solidFill>
                <a:srgbClr val="4EC9B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debeGuardarUsuario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Usuario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C586C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Usuario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"caro@example.com"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assertNotNull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usuarioService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save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(u).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getId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61950" y="612700"/>
            <a:ext cx="1134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EJEMPLO DE PRUEBA DE INTEGRACIÓN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861950" y="3190650"/>
            <a:ext cx="9561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🔧 ¿Qué es?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Herramienta que levanta contenedores reales (como MongoDB) para pruebas.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✅ Reproduce condiciones similares al entorno de producción.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TESTCONTAINERS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88" name="Google Shape;188;p21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/>
        </p:nvSpPr>
        <p:spPr>
          <a:xfrm>
            <a:off x="861950" y="1413100"/>
            <a:ext cx="95619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🔧 ¿Qué es dependencias necesitamos?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&lt;dependency&gt;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&lt;groupId&gt;org.testcontainers&lt;/groupId&gt;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&lt;artifactId&gt;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testcontainers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&lt;/artifactId&gt;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&lt;scope&gt;test&lt;/scope&gt;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&lt;/dependency&gt;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&lt;dependency&gt;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&lt;groupId&gt;org.testcontainers&lt;/groupId&gt;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&lt;artifactId&gt;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mongodb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&lt;/artifactId&gt;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&lt;scope&gt;test&lt;/scope&gt;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&lt;/dependency&gt;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&lt;dependency&gt;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&lt;groupId&gt;org.testcontainers&lt;/groupId&gt;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&lt;artifactId&gt;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junit-jupiter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&lt;/artifactId&gt;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	&lt;scope&gt;test&lt;/scope&gt;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		&lt;/dependency&gt;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TESTCONTAINERS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195" name="Google Shape;195;p22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/>
        </p:nvSpPr>
        <p:spPr>
          <a:xfrm>
            <a:off x="861950" y="2390250"/>
            <a:ext cx="119109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Container</a:t>
            </a:r>
            <a:endParaRPr sz="2000">
              <a:solidFill>
                <a:srgbClr val="4EC9B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MongoDBContainer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mongoDB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C586C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MongoDBContainer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"mongo:6.0"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DynamicPropertySource</a:t>
            </a:r>
            <a:endParaRPr sz="2000">
              <a:solidFill>
                <a:srgbClr val="4EC9B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569CD6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mongoProps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DynamicPropertyRegistry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registry) {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registry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"spring.data.mongodb.uri"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, mongoDB</a:t>
            </a:r>
            <a:r>
              <a:rPr lang="en-US" sz="2000">
                <a:solidFill>
                  <a:srgbClr val="C586C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getReplicaSetUrl);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Carga automática de conexión Mongo en Spring Boot durante tests.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861950" y="612700"/>
            <a:ext cx="1219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TESTCONTAINERS + SPRING + MONGODB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02" name="Google Shape;202;p23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/>
        </p:nvSpPr>
        <p:spPr>
          <a:xfrm>
            <a:off x="861950" y="1681375"/>
            <a:ext cx="634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🔧 Entendiendo la configuración de Testcontainers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861950" y="612700"/>
            <a:ext cx="12193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TESTCONTAINERS + SPRING + MONGODB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09" name="Google Shape;209;p24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4"/>
          <p:cNvSpPr txBox="1"/>
          <p:nvPr/>
        </p:nvSpPr>
        <p:spPr>
          <a:xfrm>
            <a:off x="861950" y="2173975"/>
            <a:ext cx="1072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@Container</a:t>
            </a:r>
            <a:endParaRPr sz="20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static </a:t>
            </a:r>
            <a:r>
              <a:rPr lang="en-US" sz="20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MongoDBContainer mongoDB 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en-US" sz="20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MongoDBContainer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"mongo:6.0"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861950" y="2974375"/>
            <a:ext cx="982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✔️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 un contenedor de Mongo real para usar durante el test.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861950" y="3735250"/>
            <a:ext cx="10724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@DynamicPropertySource</a:t>
            </a:r>
            <a:endParaRPr sz="20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static void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mongoProps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(DynamicPropertyRegistry registry)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 registry.add(</a:t>
            </a:r>
            <a:r>
              <a:rPr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"spring.data.mongodb.uri"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, mongoDB::getReplicaSetUrl);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861950" y="5151250"/>
            <a:ext cx="8038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✔️ Inyecta automáticamente la URI del contenedor en la app.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🔄 Simula el entorno real sin modificar el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application.yml.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📌 Esto permite que Spring se conecte al Mongo del contenedor.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/>
        </p:nvSpPr>
        <p:spPr>
          <a:xfrm>
            <a:off x="861950" y="2775000"/>
            <a:ext cx="9890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Test</a:t>
            </a:r>
            <a:endParaRPr sz="2000">
              <a:solidFill>
                <a:srgbClr val="4EC9B0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guardarYLeerProducto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4EC9B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Producto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C586C0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Producto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CE917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"Mouse"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B5CEA8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3500.0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productoRepository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save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(p);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assertTrue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productoRepository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findById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9CDCFE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getId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()).</a:t>
            </a:r>
            <a:r>
              <a:rPr lang="en-US" sz="2000">
                <a:solidFill>
                  <a:srgbClr val="DCDCAA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isPresent</a:t>
            </a: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200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4D4D4"/>
                </a:solidFill>
                <a:highlight>
                  <a:srgbClr val="1E1E1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TESTCONTAINERS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20" name="Google Shape;220;p25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TESTCONTAINERS</a:t>
            </a:r>
            <a:endParaRPr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26" name="Google Shape;226;p26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6"/>
          <p:cNvSpPr txBox="1"/>
          <p:nvPr/>
        </p:nvSpPr>
        <p:spPr>
          <a:xfrm>
            <a:off x="861950" y="1413100"/>
            <a:ext cx="8857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🧪 Prueba de integración de un endpoint REST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💡 Usamos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MockMvc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para simular una llamada HTTP a un controlador.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861950" y="2213500"/>
            <a:ext cx="5980800" cy="46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@SpringBootTest</a:t>
            </a:r>
            <a:endParaRPr sz="17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@AutoConfigureMockMvc</a:t>
            </a:r>
            <a:endParaRPr sz="17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ProductoControllerIT 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@Autowired 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MockMvc mockMvc;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@Test</a:t>
            </a:r>
            <a:endParaRPr sz="17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  void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debeCrearProducto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7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 throws 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Exception 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7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 String json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7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"{\"nombre\":\"Mouse\",\"precio\":3500}"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 mockMvc.perform(post(</a:t>
            </a:r>
            <a:r>
              <a:rPr lang="en-US" sz="17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"/productos"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   .contentType(MediaType.APPLICATION_JSON)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   .content(json))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    .andExpect(status().isCreated());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7110350" y="5153050"/>
            <a:ext cx="4837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🔁 Este test verifica: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✔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Que el endpoint existe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✔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Que recibe datos correctamente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✔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Que responde como se espera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/>
        </p:nvSpPr>
        <p:spPr>
          <a:xfrm>
            <a:off x="861950" y="3190650"/>
            <a:ext cx="795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💡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Testcontainers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→ Garantiza entornos de prueba realistas.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💡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SonarQube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→ Mejora la calidad del código automáticamente.</a:t>
            </a:r>
            <a:b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</a:b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💡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Refactorización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→ Reduce complejidad y errores futuros.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861950" y="612700"/>
            <a:ext cx="1224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BENEFICIOS DE TESTCONTAINERS </a:t>
            </a:r>
            <a:endParaRPr b="1" sz="4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36" name="Google Shape;236;p27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/>
        </p:nvSpPr>
        <p:spPr>
          <a:xfrm>
            <a:off x="861950" y="1260700"/>
            <a:ext cx="253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Ejemplo en vivo</a:t>
            </a:r>
            <a:endParaRPr sz="13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LIVE CODING</a:t>
            </a:r>
            <a:endParaRPr sz="40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861950" y="3650675"/>
            <a:ext cx="9742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🔢 Paso a paso: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la clase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Producto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con anotación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@Document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el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ProductoRepository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extendiendo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MongoRepository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Configurar el contenedor de MongoDB con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MongoDBContainer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Inyectar la URI con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@DynamicPropertySource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Escribir el test de guardado y búsqueda por nombre.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Ejecutar y mostrar que el contenedor se levanta y se conecta correctamente.</a:t>
            </a:r>
            <a:endParaRPr i="1" sz="20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44" name="Google Shape;244;p28"/>
          <p:cNvSpPr txBox="1"/>
          <p:nvPr/>
        </p:nvSpPr>
        <p:spPr>
          <a:xfrm>
            <a:off x="861950" y="2450075"/>
            <a:ext cx="1225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Prueba de integración con MongoDB usando Spring Boot y Testcontainers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Breve descripción: 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Vamos a crear una entidad, un repositorio y un test de integración que levanta MongoDB en un contenedor durante la prueba.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861950" y="6421175"/>
            <a:ext cx="449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US" sz="2000">
                <a:solidFill>
                  <a:schemeClr val="dk1"/>
                </a:solidFill>
                <a:highlight>
                  <a:srgbClr val="C9C9C9"/>
                </a:highlight>
                <a:latin typeface="Muli"/>
                <a:ea typeface="Muli"/>
                <a:cs typeface="Muli"/>
                <a:sym typeface="Muli"/>
              </a:rPr>
              <a:t>Tiempo: 20 minutos.</a:t>
            </a:r>
            <a:endParaRPr i="1" sz="2000">
              <a:solidFill>
                <a:schemeClr val="dk1"/>
              </a:solidFill>
              <a:highlight>
                <a:srgbClr val="C9C9C9"/>
              </a:highlight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246" name="Google Shape;246;p28"/>
          <p:cNvGrpSpPr/>
          <p:nvPr/>
        </p:nvGrpSpPr>
        <p:grpSpPr>
          <a:xfrm>
            <a:off x="10975175" y="6784000"/>
            <a:ext cx="2138655" cy="735375"/>
            <a:chOff x="10975175" y="6707800"/>
            <a:chExt cx="2138655" cy="735375"/>
          </a:xfrm>
        </p:grpSpPr>
        <p:sp>
          <p:nvSpPr>
            <p:cNvPr id="247" name="Google Shape;247;p28"/>
            <p:cNvSpPr txBox="1"/>
            <p:nvPr/>
          </p:nvSpPr>
          <p:spPr>
            <a:xfrm>
              <a:off x="12125725" y="6859938"/>
              <a:ext cx="62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600">
                  <a:solidFill>
                    <a:srgbClr val="AEAEA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i="1" sz="1600">
                <a:solidFill>
                  <a:srgbClr val="AEAEA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48" name="Google Shape;248;p28"/>
            <p:cNvPicPr preferRelativeResize="0"/>
            <p:nvPr/>
          </p:nvPicPr>
          <p:blipFill rotWithShape="1">
            <a:blip r:embed="rId4">
              <a:alphaModFix/>
            </a:blip>
            <a:srcRect b="0" l="0" r="6323" t="0"/>
            <a:stretch/>
          </p:blipFill>
          <p:spPr>
            <a:xfrm>
              <a:off x="10975175" y="6707800"/>
              <a:ext cx="1224749" cy="73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8"/>
            <p:cNvPicPr preferRelativeResize="0"/>
            <p:nvPr/>
          </p:nvPicPr>
          <p:blipFill rotWithShape="1">
            <a:blip r:embed="rId5">
              <a:alphaModFix/>
            </a:blip>
            <a:srcRect b="38679" l="8652" r="72040" t="35754"/>
            <a:stretch/>
          </p:blipFill>
          <p:spPr>
            <a:xfrm>
              <a:off x="12558428" y="6707800"/>
              <a:ext cx="555402" cy="735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9"/>
          <p:cNvPicPr preferRelativeResize="0"/>
          <p:nvPr/>
        </p:nvPicPr>
        <p:blipFill rotWithShape="1">
          <a:blip r:embed="rId4">
            <a:alphaModFix/>
          </a:blip>
          <a:srcRect b="5514" l="15690" r="0" t="3947"/>
          <a:stretch/>
        </p:blipFill>
        <p:spPr>
          <a:xfrm>
            <a:off x="0" y="-148825"/>
            <a:ext cx="13436600" cy="699665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/>
          <p:nvPr/>
        </p:nvSpPr>
        <p:spPr>
          <a:xfrm>
            <a:off x="1014350" y="2549550"/>
            <a:ext cx="4698600" cy="18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Momento:</a:t>
            </a:r>
            <a:endParaRPr sz="2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Time-out!</a:t>
            </a:r>
            <a:endParaRPr sz="6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⏰5 min.</a:t>
            </a:r>
            <a:endParaRPr sz="60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/>
        </p:nvSpPr>
        <p:spPr>
          <a:xfrm>
            <a:off x="613750" y="2505750"/>
            <a:ext cx="122091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lang="en-US" sz="37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Ejercicio N°1</a:t>
            </a:r>
            <a:endParaRPr sz="37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lang="en-US" sz="6200">
                <a:solidFill>
                  <a:srgbClr val="AEAEAE"/>
                </a:solidFill>
                <a:latin typeface="Muli"/>
                <a:ea typeface="Muli"/>
                <a:cs typeface="Muli"/>
                <a:sym typeface="Muli"/>
              </a:rPr>
              <a:t>Pruebas de Integración con MongoDB y Análisis de Calidad</a:t>
            </a:r>
            <a:endParaRPr sz="6200">
              <a:solidFill>
                <a:srgbClr val="AEAEAE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61" name="Google Shape;261;p30"/>
          <p:cNvSpPr/>
          <p:nvPr/>
        </p:nvSpPr>
        <p:spPr>
          <a:xfrm flipH="1">
            <a:off x="0" y="0"/>
            <a:ext cx="1793700" cy="1793700"/>
          </a:xfrm>
          <a:prstGeom prst="teardrop">
            <a:avLst>
              <a:gd fmla="val 100000" name="adj"/>
            </a:avLst>
          </a:prstGeom>
          <a:solidFill>
            <a:srgbClr val="AEAEA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600" y="420600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/>
        </p:nvSpPr>
        <p:spPr>
          <a:xfrm>
            <a:off x="863650" y="2690400"/>
            <a:ext cx="11343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🙌 Contexto: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Estás desarrollando una app de inventario. Debés validar el funcionamiento del repositorio de productos usando una base MongoDB real en un contenedor,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y mejorar la calidad del código con SonarQube.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863650" y="4398900"/>
            <a:ext cx="565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Tiempo🕛: 20 minutos.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69" name="Google Shape;269;p31"/>
          <p:cNvSpPr txBox="1"/>
          <p:nvPr/>
        </p:nvSpPr>
        <p:spPr>
          <a:xfrm>
            <a:off x="863650" y="726975"/>
            <a:ext cx="1170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Pruebas de Integración con MongoDB y Análisis de Calidad</a:t>
            </a:r>
            <a:endParaRPr sz="3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70" name="Google Shape;270;p31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/>
        </p:nvSpPr>
        <p:spPr>
          <a:xfrm>
            <a:off x="863650" y="2582700"/>
            <a:ext cx="106128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✍️ Consigna: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la entidad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Producto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con campos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id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nombre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precio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Crear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ProductoRepository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con método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findByNombre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Escribir un test que guarde y busque un producto usando Testcontainers.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Ejecutar análisis estático con SonarQube.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uli"/>
              <a:buAutoNum type="arabicPeriod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Refactorizar el código aplicando una mejora sugerida por SonarQube.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76" name="Google Shape;276;p32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2"/>
          <p:cNvSpPr txBox="1"/>
          <p:nvPr/>
        </p:nvSpPr>
        <p:spPr>
          <a:xfrm>
            <a:off x="863650" y="726975"/>
            <a:ext cx="1170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Pruebas de Integración con MongoDB y Análisis de Calidad</a:t>
            </a:r>
            <a:endParaRPr sz="3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/>
        </p:nvSpPr>
        <p:spPr>
          <a:xfrm>
            <a:off x="863650" y="2159400"/>
            <a:ext cx="80865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⚙️ Paso a paso:</a:t>
            </a:r>
            <a:endParaRPr b="1"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Paso 1: Crear clase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Producto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con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@Document</a:t>
            </a:r>
            <a:endParaRPr sz="2000">
              <a:solidFill>
                <a:srgbClr val="188038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Paso 2: Crear repositorio con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MongoRepository</a:t>
            </a:r>
            <a:endParaRPr sz="2000">
              <a:solidFill>
                <a:srgbClr val="188038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Paso 3: Configurar Testcontainers con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MongoDBContainer</a:t>
            </a:r>
            <a:endParaRPr sz="2000">
              <a:solidFill>
                <a:srgbClr val="188038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Paso 4: Escribir test de integración con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@SpringBootTest</a:t>
            </a:r>
            <a:endParaRPr sz="2000">
              <a:solidFill>
                <a:srgbClr val="188038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Paso 5: Analizar con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sonarQube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y revisar resultados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✅ Paso 6: Refactorizar el código según el análisis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83" name="Google Shape;283;p33"/>
          <p:cNvCxnSpPr/>
          <p:nvPr/>
        </p:nvCxnSpPr>
        <p:spPr>
          <a:xfrm rot="10800000">
            <a:off x="762500" y="808425"/>
            <a:ext cx="0" cy="483600"/>
          </a:xfrm>
          <a:prstGeom prst="straightConnector1">
            <a:avLst/>
          </a:prstGeom>
          <a:noFill/>
          <a:ln cap="flat" cmpd="sng" w="38100">
            <a:solidFill>
              <a:srgbClr val="1B294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33"/>
          <p:cNvSpPr txBox="1"/>
          <p:nvPr/>
        </p:nvSpPr>
        <p:spPr>
          <a:xfrm>
            <a:off x="863650" y="726975"/>
            <a:ext cx="1170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A4680"/>
                </a:solidFill>
                <a:latin typeface="Muli"/>
                <a:ea typeface="Muli"/>
                <a:cs typeface="Muli"/>
                <a:sym typeface="Muli"/>
              </a:rPr>
              <a:t>Pruebas de Integración con MongoDB y Análisis de Calidad</a:t>
            </a:r>
            <a:endParaRPr sz="3000">
              <a:solidFill>
                <a:srgbClr val="0A4680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/>
        </p:nvSpPr>
        <p:spPr>
          <a:xfrm>
            <a:off x="861950" y="1260700"/>
            <a:ext cx="253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¿Qué logramos hoy?</a:t>
            </a:r>
            <a:endParaRPr sz="13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861950" y="612700"/>
            <a:ext cx="913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RESUMEN</a:t>
            </a:r>
            <a:endParaRPr sz="40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291" name="Google Shape;291;p34"/>
          <p:cNvGrpSpPr/>
          <p:nvPr/>
        </p:nvGrpSpPr>
        <p:grpSpPr>
          <a:xfrm>
            <a:off x="10975175" y="6784000"/>
            <a:ext cx="2138655" cy="735375"/>
            <a:chOff x="10975175" y="6707800"/>
            <a:chExt cx="2138655" cy="735375"/>
          </a:xfrm>
        </p:grpSpPr>
        <p:sp>
          <p:nvSpPr>
            <p:cNvPr id="292" name="Google Shape;292;p34"/>
            <p:cNvSpPr txBox="1"/>
            <p:nvPr/>
          </p:nvSpPr>
          <p:spPr>
            <a:xfrm>
              <a:off x="12125725" y="6859938"/>
              <a:ext cx="62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600">
                  <a:solidFill>
                    <a:srgbClr val="AEAEA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i="1" sz="1600">
                <a:solidFill>
                  <a:srgbClr val="AEAEA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93" name="Google Shape;293;p34"/>
            <p:cNvPicPr preferRelativeResize="0"/>
            <p:nvPr/>
          </p:nvPicPr>
          <p:blipFill rotWithShape="1">
            <a:blip r:embed="rId4">
              <a:alphaModFix/>
            </a:blip>
            <a:srcRect b="0" l="0" r="6323" t="0"/>
            <a:stretch/>
          </p:blipFill>
          <p:spPr>
            <a:xfrm>
              <a:off x="10975175" y="6707800"/>
              <a:ext cx="1224749" cy="73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34"/>
            <p:cNvPicPr preferRelativeResize="0"/>
            <p:nvPr/>
          </p:nvPicPr>
          <p:blipFill rotWithShape="1">
            <a:blip r:embed="rId5">
              <a:alphaModFix/>
            </a:blip>
            <a:srcRect b="38679" l="8652" r="72040" t="35754"/>
            <a:stretch/>
          </p:blipFill>
          <p:spPr>
            <a:xfrm>
              <a:off x="12558428" y="6707800"/>
              <a:ext cx="555402" cy="735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5" name="Google Shape;295;p34"/>
          <p:cNvSpPr txBox="1"/>
          <p:nvPr/>
        </p:nvSpPr>
        <p:spPr>
          <a:xfrm>
            <a:off x="546400" y="2552500"/>
            <a:ext cx="12343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Spring Boot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permite realizar pruebas de integración realistas con </a:t>
            </a:r>
            <a:r>
              <a:rPr lang="en-US" sz="2000">
                <a:solidFill>
                  <a:srgbClr val="188038"/>
                </a:solidFill>
                <a:latin typeface="Muli"/>
                <a:ea typeface="Muli"/>
                <a:cs typeface="Muli"/>
                <a:sym typeface="Muli"/>
              </a:rPr>
              <a:t>@SpringBootTest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Testcontainers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levanta bases reales (como MongoDB) para validar repositorios, servicios y controladores en condiciones similares a producción.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@DataMongoTest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es útil para pruebas rápidas y aisladas de la capa de persistencia.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SonarQube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detecta bugs, duplicaciones, code smells y niveles bajos de cobertura, todo sin ejecutar la app.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Aplicar </a:t>
            </a: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refactorización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reduce complejidad y mejora el mantenimiento a largo plazo.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Copilot + JUnit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aceleran la creación de tests unitarios, fomentando la cultura de testing continuo.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4680"/>
              </a:buClr>
              <a:buSzPts val="2000"/>
              <a:buFont typeface="Muli"/>
              <a:buChar char="✓"/>
            </a:pPr>
            <a:r>
              <a:rPr b="1"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Integrar pruebas, análisis y mejora constante</a:t>
            </a:r>
            <a:r>
              <a:rPr lang="en-US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 es clave para lograr software de calidad profesional.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/>
        </p:nvSpPr>
        <p:spPr>
          <a:xfrm>
            <a:off x="2544850" y="3236850"/>
            <a:ext cx="8346900" cy="106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57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¿Alguna consulta?</a:t>
            </a:r>
            <a:endParaRPr sz="57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301" name="Google Shape;301;p35"/>
          <p:cNvGrpSpPr/>
          <p:nvPr/>
        </p:nvGrpSpPr>
        <p:grpSpPr>
          <a:xfrm>
            <a:off x="9698473" y="4394048"/>
            <a:ext cx="292645" cy="284928"/>
            <a:chOff x="2797873" y="624854"/>
            <a:chExt cx="193843" cy="193842"/>
          </a:xfrm>
        </p:grpSpPr>
        <p:sp>
          <p:nvSpPr>
            <p:cNvPr id="302" name="Google Shape;302;p35"/>
            <p:cNvSpPr/>
            <p:nvPr/>
          </p:nvSpPr>
          <p:spPr>
            <a:xfrm>
              <a:off x="2797873" y="705536"/>
              <a:ext cx="76151" cy="29532"/>
            </a:xfrm>
            <a:custGeom>
              <a:rect b="b" l="l" r="r" t="t"/>
              <a:pathLst>
                <a:path extrusionOk="0" h="29532" w="76151">
                  <a:moveTo>
                    <a:pt x="62592" y="1228"/>
                  </a:moveTo>
                  <a:lnTo>
                    <a:pt x="49898" y="909"/>
                  </a:lnTo>
                  <a:lnTo>
                    <a:pt x="37203" y="590"/>
                  </a:lnTo>
                  <a:lnTo>
                    <a:pt x="24507" y="273"/>
                  </a:lnTo>
                  <a:lnTo>
                    <a:pt x="13557" y="0"/>
                  </a:lnTo>
                  <a:lnTo>
                    <a:pt x="2737" y="4867"/>
                  </a:lnTo>
                  <a:lnTo>
                    <a:pt x="0" y="15666"/>
                  </a:lnTo>
                  <a:lnTo>
                    <a:pt x="5344" y="25566"/>
                  </a:lnTo>
                  <a:lnTo>
                    <a:pt x="13557" y="28300"/>
                  </a:lnTo>
                  <a:lnTo>
                    <a:pt x="26256" y="28619"/>
                  </a:lnTo>
                  <a:lnTo>
                    <a:pt x="38952" y="28938"/>
                  </a:lnTo>
                  <a:lnTo>
                    <a:pt x="51647" y="29257"/>
                  </a:lnTo>
                  <a:lnTo>
                    <a:pt x="62592" y="29532"/>
                  </a:lnTo>
                  <a:lnTo>
                    <a:pt x="73413" y="24663"/>
                  </a:lnTo>
                  <a:lnTo>
                    <a:pt x="76151" y="13864"/>
                  </a:lnTo>
                  <a:lnTo>
                    <a:pt x="70808" y="3963"/>
                  </a:lnTo>
                  <a:lnTo>
                    <a:pt x="62592" y="122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A43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2915567" y="708484"/>
              <a:ext cx="76149" cy="29532"/>
            </a:xfrm>
            <a:custGeom>
              <a:rect b="b" l="l" r="r" t="t"/>
              <a:pathLst>
                <a:path extrusionOk="0" h="29532" w="76149">
                  <a:moveTo>
                    <a:pt x="62592" y="1228"/>
                  </a:moveTo>
                  <a:lnTo>
                    <a:pt x="49895" y="909"/>
                  </a:lnTo>
                  <a:lnTo>
                    <a:pt x="37198" y="590"/>
                  </a:lnTo>
                  <a:lnTo>
                    <a:pt x="24503" y="273"/>
                  </a:lnTo>
                  <a:lnTo>
                    <a:pt x="13557" y="0"/>
                  </a:lnTo>
                  <a:lnTo>
                    <a:pt x="2737" y="4867"/>
                  </a:lnTo>
                  <a:lnTo>
                    <a:pt x="0" y="15666"/>
                  </a:lnTo>
                  <a:lnTo>
                    <a:pt x="5342" y="25568"/>
                  </a:lnTo>
                  <a:lnTo>
                    <a:pt x="13557" y="28304"/>
                  </a:lnTo>
                  <a:lnTo>
                    <a:pt x="26252" y="28621"/>
                  </a:lnTo>
                  <a:lnTo>
                    <a:pt x="38947" y="28938"/>
                  </a:lnTo>
                  <a:lnTo>
                    <a:pt x="51644" y="29257"/>
                  </a:lnTo>
                  <a:lnTo>
                    <a:pt x="62592" y="29532"/>
                  </a:lnTo>
                  <a:lnTo>
                    <a:pt x="73413" y="24662"/>
                  </a:lnTo>
                  <a:lnTo>
                    <a:pt x="76149" y="13861"/>
                  </a:lnTo>
                  <a:lnTo>
                    <a:pt x="70804" y="3960"/>
                  </a:lnTo>
                  <a:lnTo>
                    <a:pt x="62592" y="122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A43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2881505" y="624854"/>
              <a:ext cx="29532" cy="76151"/>
            </a:xfrm>
            <a:custGeom>
              <a:rect b="b" l="l" r="r" t="t"/>
              <a:pathLst>
                <a:path extrusionOk="0" h="76151" w="29532">
                  <a:moveTo>
                    <a:pt x="4867" y="73413"/>
                  </a:moveTo>
                  <a:lnTo>
                    <a:pt x="15666" y="76151"/>
                  </a:lnTo>
                  <a:lnTo>
                    <a:pt x="25568" y="70808"/>
                  </a:lnTo>
                  <a:lnTo>
                    <a:pt x="28304" y="62593"/>
                  </a:lnTo>
                  <a:lnTo>
                    <a:pt x="28622" y="49896"/>
                  </a:lnTo>
                  <a:lnTo>
                    <a:pt x="28940" y="37198"/>
                  </a:lnTo>
                  <a:lnTo>
                    <a:pt x="29259" y="24502"/>
                  </a:lnTo>
                  <a:lnTo>
                    <a:pt x="29532" y="13558"/>
                  </a:lnTo>
                  <a:lnTo>
                    <a:pt x="24660" y="2736"/>
                  </a:lnTo>
                  <a:lnTo>
                    <a:pt x="13860" y="0"/>
                  </a:lnTo>
                  <a:lnTo>
                    <a:pt x="3960" y="5346"/>
                  </a:lnTo>
                  <a:lnTo>
                    <a:pt x="1228" y="13558"/>
                  </a:lnTo>
                  <a:lnTo>
                    <a:pt x="910" y="26251"/>
                  </a:lnTo>
                  <a:lnTo>
                    <a:pt x="592" y="38947"/>
                  </a:lnTo>
                  <a:lnTo>
                    <a:pt x="273" y="51645"/>
                  </a:lnTo>
                  <a:lnTo>
                    <a:pt x="0" y="62593"/>
                  </a:lnTo>
                  <a:lnTo>
                    <a:pt x="4867" y="7341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A43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2878555" y="742544"/>
              <a:ext cx="29528" cy="76152"/>
            </a:xfrm>
            <a:custGeom>
              <a:rect b="b" l="l" r="r" t="t"/>
              <a:pathLst>
                <a:path extrusionOk="0" h="76152" w="29528">
                  <a:moveTo>
                    <a:pt x="28304" y="62594"/>
                  </a:moveTo>
                  <a:lnTo>
                    <a:pt x="28621" y="49898"/>
                  </a:lnTo>
                  <a:lnTo>
                    <a:pt x="28938" y="37202"/>
                  </a:lnTo>
                  <a:lnTo>
                    <a:pt x="29255" y="24506"/>
                  </a:lnTo>
                  <a:lnTo>
                    <a:pt x="29528" y="13555"/>
                  </a:lnTo>
                  <a:lnTo>
                    <a:pt x="24661" y="2736"/>
                  </a:lnTo>
                  <a:lnTo>
                    <a:pt x="13863" y="0"/>
                  </a:lnTo>
                  <a:lnTo>
                    <a:pt x="3963" y="5344"/>
                  </a:lnTo>
                  <a:lnTo>
                    <a:pt x="1228" y="13555"/>
                  </a:lnTo>
                  <a:lnTo>
                    <a:pt x="909" y="26251"/>
                  </a:lnTo>
                  <a:lnTo>
                    <a:pt x="590" y="38947"/>
                  </a:lnTo>
                  <a:lnTo>
                    <a:pt x="273" y="51643"/>
                  </a:lnTo>
                  <a:lnTo>
                    <a:pt x="0" y="62594"/>
                  </a:lnTo>
                  <a:lnTo>
                    <a:pt x="4870" y="73415"/>
                  </a:lnTo>
                  <a:lnTo>
                    <a:pt x="15671" y="76152"/>
                  </a:lnTo>
                  <a:lnTo>
                    <a:pt x="25572" y="70806"/>
                  </a:lnTo>
                  <a:lnTo>
                    <a:pt x="28304" y="625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1A437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" name="Google Shape;306;p35"/>
          <p:cNvSpPr/>
          <p:nvPr/>
        </p:nvSpPr>
        <p:spPr>
          <a:xfrm>
            <a:off x="3499275" y="2897966"/>
            <a:ext cx="232813" cy="232813"/>
          </a:xfrm>
          <a:custGeom>
            <a:rect b="b" l="l" r="r" t="t"/>
            <a:pathLst>
              <a:path extrusionOk="0" h="232813" w="232813">
                <a:moveTo>
                  <a:pt x="912" y="131051"/>
                </a:moveTo>
                <a:lnTo>
                  <a:pt x="3575" y="145150"/>
                </a:lnTo>
                <a:lnTo>
                  <a:pt x="7879" y="158595"/>
                </a:lnTo>
                <a:lnTo>
                  <a:pt x="13714" y="171274"/>
                </a:lnTo>
                <a:lnTo>
                  <a:pt x="20970" y="183078"/>
                </a:lnTo>
                <a:lnTo>
                  <a:pt x="20423" y="127526"/>
                </a:lnTo>
                <a:lnTo>
                  <a:pt x="19788" y="116406"/>
                </a:lnTo>
                <a:lnTo>
                  <a:pt x="20884" y="101835"/>
                </a:lnTo>
                <a:lnTo>
                  <a:pt x="24066" y="87940"/>
                </a:lnTo>
                <a:lnTo>
                  <a:pt x="29172" y="74882"/>
                </a:lnTo>
                <a:lnTo>
                  <a:pt x="36042" y="62821"/>
                </a:lnTo>
                <a:lnTo>
                  <a:pt x="44515" y="51919"/>
                </a:lnTo>
                <a:lnTo>
                  <a:pt x="54430" y="42337"/>
                </a:lnTo>
                <a:lnTo>
                  <a:pt x="65626" y="34235"/>
                </a:lnTo>
                <a:lnTo>
                  <a:pt x="77942" y="27775"/>
                </a:lnTo>
                <a:lnTo>
                  <a:pt x="91217" y="23117"/>
                </a:lnTo>
                <a:lnTo>
                  <a:pt x="105290" y="20423"/>
                </a:lnTo>
                <a:lnTo>
                  <a:pt x="116406" y="19788"/>
                </a:lnTo>
                <a:lnTo>
                  <a:pt x="130978" y="20884"/>
                </a:lnTo>
                <a:lnTo>
                  <a:pt x="144874" y="24066"/>
                </a:lnTo>
                <a:lnTo>
                  <a:pt x="157933" y="29173"/>
                </a:lnTo>
                <a:lnTo>
                  <a:pt x="169994" y="36043"/>
                </a:lnTo>
                <a:lnTo>
                  <a:pt x="180895" y="44517"/>
                </a:lnTo>
                <a:lnTo>
                  <a:pt x="190477" y="54432"/>
                </a:lnTo>
                <a:lnTo>
                  <a:pt x="198579" y="65628"/>
                </a:lnTo>
                <a:lnTo>
                  <a:pt x="205038" y="77943"/>
                </a:lnTo>
                <a:lnTo>
                  <a:pt x="209696" y="91218"/>
                </a:lnTo>
                <a:lnTo>
                  <a:pt x="212390" y="105291"/>
                </a:lnTo>
                <a:lnTo>
                  <a:pt x="213025" y="116406"/>
                </a:lnTo>
                <a:lnTo>
                  <a:pt x="211929" y="130978"/>
                </a:lnTo>
                <a:lnTo>
                  <a:pt x="208747" y="144874"/>
                </a:lnTo>
                <a:lnTo>
                  <a:pt x="203641" y="157933"/>
                </a:lnTo>
                <a:lnTo>
                  <a:pt x="196771" y="169994"/>
                </a:lnTo>
                <a:lnTo>
                  <a:pt x="188298" y="180896"/>
                </a:lnTo>
                <a:lnTo>
                  <a:pt x="178384" y="190479"/>
                </a:lnTo>
                <a:lnTo>
                  <a:pt x="167189" y="198581"/>
                </a:lnTo>
                <a:lnTo>
                  <a:pt x="154873" y="205041"/>
                </a:lnTo>
                <a:lnTo>
                  <a:pt x="141599" y="209699"/>
                </a:lnTo>
                <a:lnTo>
                  <a:pt x="127525" y="212393"/>
                </a:lnTo>
                <a:lnTo>
                  <a:pt x="116406" y="213029"/>
                </a:lnTo>
                <a:lnTo>
                  <a:pt x="101835" y="211933"/>
                </a:lnTo>
                <a:lnTo>
                  <a:pt x="87939" y="208751"/>
                </a:lnTo>
                <a:lnTo>
                  <a:pt x="74881" y="203644"/>
                </a:lnTo>
                <a:lnTo>
                  <a:pt x="62820" y="196774"/>
                </a:lnTo>
                <a:lnTo>
                  <a:pt x="51918" y="188301"/>
                </a:lnTo>
                <a:lnTo>
                  <a:pt x="42336" y="178386"/>
                </a:lnTo>
                <a:lnTo>
                  <a:pt x="34235" y="167190"/>
                </a:lnTo>
                <a:lnTo>
                  <a:pt x="27775" y="154874"/>
                </a:lnTo>
                <a:lnTo>
                  <a:pt x="29537" y="193897"/>
                </a:lnTo>
                <a:lnTo>
                  <a:pt x="39305" y="203622"/>
                </a:lnTo>
                <a:lnTo>
                  <a:pt x="50163" y="212141"/>
                </a:lnTo>
                <a:lnTo>
                  <a:pt x="62002" y="219345"/>
                </a:lnTo>
                <a:lnTo>
                  <a:pt x="74712" y="225124"/>
                </a:lnTo>
                <a:lnTo>
                  <a:pt x="88182" y="229368"/>
                </a:lnTo>
                <a:lnTo>
                  <a:pt x="102303" y="231968"/>
                </a:lnTo>
                <a:lnTo>
                  <a:pt x="116406" y="232813"/>
                </a:lnTo>
                <a:lnTo>
                  <a:pt x="131049" y="231901"/>
                </a:lnTo>
                <a:lnTo>
                  <a:pt x="145148" y="229238"/>
                </a:lnTo>
                <a:lnTo>
                  <a:pt x="158591" y="224935"/>
                </a:lnTo>
                <a:lnTo>
                  <a:pt x="171270" y="219100"/>
                </a:lnTo>
                <a:lnTo>
                  <a:pt x="183075" y="211845"/>
                </a:lnTo>
                <a:lnTo>
                  <a:pt x="193894" y="203278"/>
                </a:lnTo>
                <a:lnTo>
                  <a:pt x="203619" y="193511"/>
                </a:lnTo>
                <a:lnTo>
                  <a:pt x="212138" y="182653"/>
                </a:lnTo>
                <a:lnTo>
                  <a:pt x="219343" y="170814"/>
                </a:lnTo>
                <a:lnTo>
                  <a:pt x="225123" y="158104"/>
                </a:lnTo>
                <a:lnTo>
                  <a:pt x="229368" y="144633"/>
                </a:lnTo>
                <a:lnTo>
                  <a:pt x="231967" y="130511"/>
                </a:lnTo>
                <a:lnTo>
                  <a:pt x="232813" y="116406"/>
                </a:lnTo>
                <a:lnTo>
                  <a:pt x="231901" y="101763"/>
                </a:lnTo>
                <a:lnTo>
                  <a:pt x="229238" y="87664"/>
                </a:lnTo>
                <a:lnTo>
                  <a:pt x="224933" y="74220"/>
                </a:lnTo>
                <a:lnTo>
                  <a:pt x="219098" y="61541"/>
                </a:lnTo>
                <a:lnTo>
                  <a:pt x="211842" y="49736"/>
                </a:lnTo>
                <a:lnTo>
                  <a:pt x="203275" y="38917"/>
                </a:lnTo>
                <a:lnTo>
                  <a:pt x="193508" y="29193"/>
                </a:lnTo>
                <a:lnTo>
                  <a:pt x="182649" y="20673"/>
                </a:lnTo>
                <a:lnTo>
                  <a:pt x="170810" y="13469"/>
                </a:lnTo>
                <a:lnTo>
                  <a:pt x="158101" y="7689"/>
                </a:lnTo>
                <a:lnTo>
                  <a:pt x="144630" y="3445"/>
                </a:lnTo>
                <a:lnTo>
                  <a:pt x="130510" y="845"/>
                </a:lnTo>
                <a:lnTo>
                  <a:pt x="116406" y="0"/>
                </a:lnTo>
                <a:lnTo>
                  <a:pt x="101763" y="912"/>
                </a:lnTo>
                <a:lnTo>
                  <a:pt x="87665" y="3575"/>
                </a:lnTo>
                <a:lnTo>
                  <a:pt x="74221" y="7879"/>
                </a:lnTo>
                <a:lnTo>
                  <a:pt x="61542" y="13714"/>
                </a:lnTo>
                <a:lnTo>
                  <a:pt x="49738" y="20969"/>
                </a:lnTo>
                <a:lnTo>
                  <a:pt x="38919" y="29536"/>
                </a:lnTo>
                <a:lnTo>
                  <a:pt x="29194" y="39303"/>
                </a:lnTo>
                <a:lnTo>
                  <a:pt x="20674" y="50162"/>
                </a:lnTo>
                <a:lnTo>
                  <a:pt x="13469" y="62001"/>
                </a:lnTo>
                <a:lnTo>
                  <a:pt x="7690" y="74710"/>
                </a:lnTo>
                <a:lnTo>
                  <a:pt x="3445" y="88181"/>
                </a:lnTo>
                <a:lnTo>
                  <a:pt x="845" y="102302"/>
                </a:lnTo>
                <a:lnTo>
                  <a:pt x="0" y="116406"/>
                </a:lnTo>
                <a:lnTo>
                  <a:pt x="912" y="13105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A43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5"/>
          <p:cNvSpPr/>
          <p:nvPr/>
        </p:nvSpPr>
        <p:spPr>
          <a:xfrm rot="10800000">
            <a:off x="5184400" y="4852800"/>
            <a:ext cx="3067800" cy="2729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/>
        </p:nvSpPr>
        <p:spPr>
          <a:xfrm>
            <a:off x="3073600" y="2656500"/>
            <a:ext cx="7289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¡Muchas Gracias!</a:t>
            </a:r>
            <a:endParaRPr sz="60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Nos vemos en la próxima clase 👋🏻</a:t>
            </a:r>
            <a:endParaRPr sz="1600">
              <a:solidFill>
                <a:srgbClr val="FFFFFF"/>
              </a:solidFill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313" name="Google Shape;31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1325" y="4179075"/>
            <a:ext cx="1093951" cy="10117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